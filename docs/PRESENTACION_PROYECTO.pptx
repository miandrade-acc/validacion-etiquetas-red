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6" r:id="rId3"/>
    <p:sldId id="257" r:id="rId4"/>
    <p:sldId id="276" r:id="rId5"/>
    <p:sldId id="277" r:id="rId6"/>
    <p:sldId id="278" r:id="rId7"/>
    <p:sldId id="260" r:id="rId8"/>
    <p:sldId id="261" r:id="rId9"/>
    <p:sldId id="262" r:id="rId10"/>
    <p:sldId id="279" r:id="rId11"/>
    <p:sldId id="280" r:id="rId12"/>
    <p:sldId id="263" r:id="rId13"/>
    <p:sldId id="264" r:id="rId14"/>
    <p:sldId id="281" r:id="rId15"/>
    <p:sldId id="265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2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B2331-2F00-1FDA-0346-50627319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50F1377-5A91-D274-18BF-03720342E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9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DCFE1EBF-A225-ECEB-92A6-6D74579CA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6249" y="561231"/>
            <a:ext cx="7205720" cy="1642707"/>
          </a:xfrm>
        </p:spPr>
        <p:txBody>
          <a:bodyPr/>
          <a:lstStyle/>
          <a:p>
            <a:r>
              <a:rPr lang="es-EC" noProof="0" dirty="0">
                <a:solidFill>
                  <a:schemeClr val="bg1"/>
                </a:solidFill>
              </a:rPr>
              <a:t>Proyecto Final – Maestría UEES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1381" y="2825271"/>
            <a:ext cx="7205720" cy="2473559"/>
          </a:xfrm>
        </p:spPr>
        <p:txBody>
          <a:bodyPr>
            <a:normAutofit/>
          </a:bodyPr>
          <a:lstStyle/>
          <a:p>
            <a:r>
              <a:rPr lang="es-EC" sz="2400" noProof="0" dirty="0">
                <a:solidFill>
                  <a:schemeClr val="bg1"/>
                </a:solidFill>
              </a:rPr>
              <a:t>Validación automática de etiquetas de red</a:t>
            </a:r>
          </a:p>
          <a:p>
            <a:r>
              <a:rPr lang="es-EC" sz="2400" noProof="0" dirty="0">
                <a:solidFill>
                  <a:schemeClr val="bg1"/>
                </a:solidFill>
              </a:rPr>
              <a:t>Visión computacional – Cajas MPLS</a:t>
            </a:r>
          </a:p>
          <a:p>
            <a:endParaRPr lang="es-EC" sz="2400" noProof="0" dirty="0">
              <a:solidFill>
                <a:schemeClr val="bg1"/>
              </a:solidFill>
            </a:endParaRPr>
          </a:p>
          <a:p>
            <a:r>
              <a:rPr lang="es-EC" sz="2400" noProof="0" dirty="0">
                <a:solidFill>
                  <a:schemeClr val="bg1"/>
                </a:solidFill>
              </a:rPr>
              <a:t>Autores: María Augusta Flores y Marcelo Ismael Andrade</a:t>
            </a:r>
          </a:p>
          <a:p>
            <a:r>
              <a:rPr lang="es-EC" sz="2400" noProof="0" dirty="0">
                <a:solidFill>
                  <a:schemeClr val="bg1"/>
                </a:solidFill>
              </a:rPr>
              <a:t>Fecha: Octubre 2025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2451139A-2B63-37EC-12C9-37E93C041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6579FBA8-CF5C-7BDF-B71F-D60836B13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4719" y="764706"/>
            <a:ext cx="5200278" cy="767608"/>
          </a:xfrm>
        </p:spPr>
        <p:txBody>
          <a:bodyPr>
            <a:noAutofit/>
          </a:bodyPr>
          <a:lstStyle/>
          <a:p>
            <a:r>
              <a:rPr lang="es-EC" sz="3200" noProof="0" dirty="0">
                <a:solidFill>
                  <a:schemeClr val="bg1"/>
                </a:solidFill>
              </a:rPr>
              <a:t>PROBLEMA QUE RESUELVE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A97A77E6-3B40-DC3B-BDF5-B6F95F33B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EFFD42F-5A52-4C39-67A3-80C0456D4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34283">
            <a:off x="6729819" y="2807703"/>
            <a:ext cx="2053896" cy="1440394"/>
          </a:xfrm>
          <a:prstGeom prst="rect">
            <a:avLst/>
          </a:prstGeom>
        </p:spPr>
      </p:pic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46ADF235-C7EF-4682-3775-A85B7AB0AE53}"/>
              </a:ext>
            </a:extLst>
          </p:cNvPr>
          <p:cNvSpPr/>
          <p:nvPr/>
        </p:nvSpPr>
        <p:spPr>
          <a:xfrm>
            <a:off x="2073286" y="1733845"/>
            <a:ext cx="4723144" cy="15101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El </a:t>
            </a:r>
            <a:r>
              <a:rPr lang="es-EC" b="1" i="0" u="none" strike="noStrike" dirty="0">
                <a:solidFill>
                  <a:srgbClr val="000000"/>
                </a:solidFill>
                <a:effectLst/>
              </a:rPr>
              <a:t>mal etiquetado de cajas MPLS y equipos de red</a:t>
            </a:r>
            <a:r>
              <a:rPr lang="es-EC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genera confusión, retrabajos y pérdida de trazabilidad.</a:t>
            </a:r>
            <a:br>
              <a:rPr lang="es-EC" dirty="0"/>
            </a:br>
            <a:r>
              <a:rPr lang="es-EC" b="1" i="0" u="none" strike="noStrike" dirty="0">
                <a:solidFill>
                  <a:srgbClr val="000000"/>
                </a:solidFill>
                <a:effectLst/>
              </a:rPr>
              <a:t>Consecuencia:</a:t>
            </a:r>
            <a:r>
              <a:rPr lang="es-EC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tiempos muertos, errores humanos y baja eficiencia operativa.</a:t>
            </a:r>
            <a:endParaRPr lang="es-EC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D75E32E-9F99-0E4B-2459-ECD61A099198}"/>
              </a:ext>
            </a:extLst>
          </p:cNvPr>
          <p:cNvSpPr txBox="1">
            <a:spLocks/>
          </p:cNvSpPr>
          <p:nvPr/>
        </p:nvSpPr>
        <p:spPr>
          <a:xfrm>
            <a:off x="934064" y="3428999"/>
            <a:ext cx="5256306" cy="10677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 sz="3200" dirty="0">
                <a:solidFill>
                  <a:schemeClr val="bg1"/>
                </a:solidFill>
              </a:rPr>
              <a:t>MOTIVACION Y RELEVANCIA 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B37AE6EC-DA3C-91AF-33E6-88CF50EDBDD0}"/>
              </a:ext>
            </a:extLst>
          </p:cNvPr>
          <p:cNvSpPr/>
          <p:nvPr/>
        </p:nvSpPr>
        <p:spPr>
          <a:xfrm>
            <a:off x="2518205" y="4513253"/>
            <a:ext cx="4723144" cy="169997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📍 El </a:t>
            </a:r>
            <a:r>
              <a:rPr lang="es-EC" sz="1600" b="1" i="0" u="none" strike="noStrike" dirty="0">
                <a:solidFill>
                  <a:srgbClr val="000000"/>
                </a:solidFill>
                <a:effectLst/>
              </a:rPr>
              <a:t>alto índice de errores en el etiquetado</a:t>
            </a:r>
            <a:r>
              <a:rPr lang="es-EC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de cajas MPLS impulsa la búsqueda de una </a:t>
            </a:r>
            <a:r>
              <a:rPr lang="es-EC" sz="1600" b="1" i="0" u="none" strike="noStrike" dirty="0">
                <a:solidFill>
                  <a:srgbClr val="000000"/>
                </a:solidFill>
                <a:effectLst/>
              </a:rPr>
              <a:t>solución automatizada</a:t>
            </a:r>
            <a:r>
              <a:rPr lang="es-EC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que garantice precisión y trazabilidad.</a:t>
            </a:r>
            <a:br>
              <a:rPr lang="es-EC" sz="1600" dirty="0"/>
            </a:br>
            <a:r>
              <a:rPr lang="es-EC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✅ Su aplicación permitirá </a:t>
            </a:r>
            <a:r>
              <a:rPr lang="es-EC" sz="1600" b="1" i="0" u="none" strike="noStrike" dirty="0">
                <a:solidFill>
                  <a:srgbClr val="000000"/>
                </a:solidFill>
                <a:effectLst/>
              </a:rPr>
              <a:t>estandarizar la red</a:t>
            </a:r>
            <a:r>
              <a:rPr lang="es-EC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y </a:t>
            </a:r>
            <a:r>
              <a:rPr lang="es-EC" sz="1600" b="1" i="0" u="none" strike="noStrike" dirty="0">
                <a:solidFill>
                  <a:srgbClr val="000000"/>
                </a:solidFill>
                <a:effectLst/>
              </a:rPr>
              <a:t>mejorar la eficiencia técnica y la experiencia del cliente</a:t>
            </a:r>
            <a:r>
              <a:rPr lang="es-EC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s-EC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6579FBA8-CF5C-7BDF-B71F-D60836B13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264" y="718991"/>
            <a:ext cx="8229600" cy="1143000"/>
          </a:xfrm>
        </p:spPr>
        <p:txBody>
          <a:bodyPr/>
          <a:lstStyle/>
          <a:p>
            <a:r>
              <a:rPr lang="es-EC" dirty="0">
                <a:solidFill>
                  <a:schemeClr val="bg1"/>
                </a:solidFill>
              </a:rPr>
              <a:t>DATASET</a:t>
            </a:r>
            <a:endParaRPr lang="es-EC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505" y="2607220"/>
            <a:ext cx="7586707" cy="3280717"/>
          </a:xfrm>
        </p:spPr>
        <p:txBody>
          <a:bodyPr>
            <a:noAutofit/>
          </a:bodyPr>
          <a:lstStyle/>
          <a:p>
            <a:pPr algn="just"/>
            <a:endParaRPr lang="es-EC" sz="2000" noProof="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s-EC" sz="20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El sistema fue entrenado y evaluado utilizando un conjunto de datos reales de etiquetas utilizadas en instalaciones de fibra óptica, provistas por técnicos de campo de una empresa de telecomunicaciones.</a:t>
            </a:r>
          </a:p>
          <a:p>
            <a:pPr marL="0" indent="0" algn="l">
              <a:buNone/>
            </a:pPr>
            <a:endParaRPr lang="es-EC" sz="2000" b="0" i="0" u="none" strike="noStrike" dirty="0">
              <a:solidFill>
                <a:schemeClr val="bg1"/>
              </a:solidFill>
              <a:effectLst/>
              <a:latin typeface="-apple-system"/>
            </a:endParaRP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Más de 1000 registros de etiquetas en cajas MPLS.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Variables categóricas: ciudad, nodos, ruta, color_buffer.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Variable objetivo: color_buffer (12 colores).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Cada color representa un tipo de conexión de red.</a:t>
            </a:r>
          </a:p>
          <a:p>
            <a:pPr marL="0" indent="0">
              <a:buNone/>
            </a:pPr>
            <a:br>
              <a:rPr lang="es-EC" sz="2000" dirty="0">
                <a:solidFill>
                  <a:schemeClr val="bg1"/>
                </a:solidFill>
              </a:rPr>
            </a:br>
            <a:endParaRPr lang="es-EC" sz="2000" dirty="0">
              <a:solidFill>
                <a:schemeClr val="bg1"/>
              </a:solidFill>
            </a:endParaRP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A97A77E6-3B40-DC3B-BDF5-B6F95F33B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0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6579FBA8-CF5C-7BDF-B71F-D60836B13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111" y="327089"/>
            <a:ext cx="8229600" cy="1143000"/>
          </a:xfrm>
        </p:spPr>
        <p:txBody>
          <a:bodyPr/>
          <a:lstStyle/>
          <a:p>
            <a:r>
              <a:rPr lang="es-EC" dirty="0">
                <a:solidFill>
                  <a:schemeClr val="bg1"/>
                </a:solidFill>
              </a:rPr>
              <a:t>PREPROCESAMIENTO</a:t>
            </a:r>
            <a:endParaRPr lang="es-EC" noProof="0" dirty="0">
              <a:solidFill>
                <a:schemeClr val="bg1"/>
              </a:solidFill>
            </a:endParaRP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A97A77E6-3B40-DC3B-BDF5-B6F95F33B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906" y="-251786"/>
            <a:ext cx="2605547" cy="260554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7060834-B95B-04AD-8B02-38A3B78CB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974" y="1352858"/>
            <a:ext cx="2819651" cy="359428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A6F6A8B-75A7-DC0D-6084-4724F698A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23983">
            <a:off x="5347802" y="1761004"/>
            <a:ext cx="2974731" cy="26363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DB48042-A4EE-A512-ED2F-CCD16B250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8266" y="5097090"/>
            <a:ext cx="3401761" cy="129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014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6579FBA8-CF5C-7BDF-B71F-D60836B13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753" y="917329"/>
            <a:ext cx="7846927" cy="1143000"/>
          </a:xfrm>
        </p:spPr>
        <p:txBody>
          <a:bodyPr>
            <a:normAutofit fontScale="90000"/>
          </a:bodyPr>
          <a:lstStyle/>
          <a:p>
            <a:r>
              <a:rPr lang="es-EC" dirty="0">
                <a:solidFill>
                  <a:schemeClr val="bg1"/>
                </a:solidFill>
              </a:rPr>
              <a:t>TIPO DE MODELO Y ARQUITECTURA</a:t>
            </a:r>
            <a:endParaRPr lang="es-EC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881" y="3075512"/>
            <a:ext cx="4407876" cy="2293659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es-EC" dirty="0">
                <a:solidFill>
                  <a:schemeClr val="bg1"/>
                </a:solidFill>
                <a:latin typeface="-apple-system"/>
              </a:rPr>
              <a:t>S</a:t>
            </a:r>
            <a:r>
              <a:rPr lang="es-EC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e optó por un enfoque con </a:t>
            </a:r>
            <a:r>
              <a:rPr lang="es-EC" b="1" i="0" u="none" strike="noStrike" dirty="0">
                <a:solidFill>
                  <a:schemeClr val="bg1"/>
                </a:solidFill>
                <a:effectLst/>
                <a:latin typeface="-apple-system"/>
              </a:rPr>
              <a:t>Random Forest</a:t>
            </a:r>
            <a:r>
              <a:rPr lang="es-EC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 como baseline por su bajo costo computacional, interpretabilidad y buen desempeño con datos estructurados.</a:t>
            </a:r>
          </a:p>
          <a:p>
            <a:pPr marL="0" indent="0" algn="just">
              <a:buNone/>
            </a:pPr>
            <a:endParaRPr lang="es-EC" b="0" i="0" u="none" strike="noStrike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es-EC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Para reconocimiento de texto, se empleó </a:t>
            </a:r>
            <a:r>
              <a:rPr lang="es-EC" b="1" i="0" u="none" strike="noStrike" dirty="0">
                <a:solidFill>
                  <a:schemeClr val="bg1"/>
                </a:solidFill>
                <a:effectLst/>
                <a:latin typeface="-apple-system"/>
              </a:rPr>
              <a:t>OCR con Tesseract</a:t>
            </a:r>
            <a:r>
              <a:rPr lang="es-EC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 por su robustez, soporte comunitario y facilidad de integración en Python.</a:t>
            </a:r>
          </a:p>
          <a:p>
            <a:pPr marL="0" indent="0" algn="l">
              <a:buNone/>
            </a:pPr>
            <a:endParaRPr lang="es-EC" b="0" i="0" u="none" strike="noStrike" dirty="0">
              <a:solidFill>
                <a:schemeClr val="bg1"/>
              </a:solidFill>
              <a:effectLst/>
              <a:latin typeface="-apple-system"/>
            </a:endParaRPr>
          </a:p>
          <a:p>
            <a:pPr marL="0" indent="0">
              <a:buNone/>
            </a:pPr>
            <a:br>
              <a:rPr lang="es-EC" dirty="0">
                <a:solidFill>
                  <a:schemeClr val="bg1"/>
                </a:solidFill>
              </a:rPr>
            </a:br>
            <a:endParaRPr lang="es-EC" dirty="0">
              <a:solidFill>
                <a:schemeClr val="bg1"/>
              </a:solidFill>
            </a:endParaRP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A97A77E6-3B40-DC3B-BDF5-B6F95F33B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2285" y="-208627"/>
            <a:ext cx="2605547" cy="260554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85B9BDF-8A86-C58E-E2C6-C1EE651E2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661" y="2370448"/>
            <a:ext cx="2605547" cy="395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232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2CDF99D7-C3C2-CE14-5871-FB4EB0CC5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715" y="968828"/>
            <a:ext cx="6513870" cy="1143000"/>
          </a:xfrm>
        </p:spPr>
        <p:txBody>
          <a:bodyPr>
            <a:normAutofit fontScale="90000"/>
          </a:bodyPr>
          <a:lstStyle/>
          <a:p>
            <a:r>
              <a:rPr lang="es-EC" noProof="0" dirty="0">
                <a:solidFill>
                  <a:schemeClr val="bg1"/>
                </a:solidFill>
              </a:rPr>
              <a:t>JUSTIFICACION DE DECISIONES TECNICAS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459" y="2347384"/>
            <a:ext cx="4264176" cy="3171092"/>
          </a:xfrm>
        </p:spPr>
        <p:txBody>
          <a:bodyPr>
            <a:normAutofit fontScale="70000" lnSpcReduction="20000"/>
          </a:bodyPr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C" sz="2000" b="1" i="0" u="none" strike="noStrike" dirty="0">
                <a:solidFill>
                  <a:schemeClr val="bg1"/>
                </a:solidFill>
                <a:effectLst/>
              </a:rPr>
              <a:t>OCR (Tesseract + OpenCV)</a:t>
            </a:r>
          </a:p>
          <a:p>
            <a:r>
              <a:rPr lang="es-EC" sz="2000" b="0" i="0" u="none" strike="noStrike" dirty="0">
                <a:solidFill>
                  <a:schemeClr val="bg1"/>
                </a:solidFill>
                <a:effectLst/>
              </a:rPr>
              <a:t>Alta precisión, libre y adaptable.</a:t>
            </a:r>
            <a:endParaRPr lang="es-EC" sz="2000" dirty="0">
              <a:solidFill>
                <a:schemeClr val="bg1"/>
              </a:solidFill>
            </a:endParaRPr>
          </a:p>
          <a:p>
            <a:r>
              <a:rPr lang="es-EC" sz="2000" b="0" i="0" u="none" strike="noStrike" dirty="0">
                <a:solidFill>
                  <a:schemeClr val="bg1"/>
                </a:solidFill>
                <a:effectLst/>
              </a:rPr>
              <a:t>Preprocesamiento: escala de grises, umbral y orientación.</a:t>
            </a:r>
          </a:p>
          <a:p>
            <a:pPr marL="0" indent="0">
              <a:buNone/>
            </a:pPr>
            <a:endParaRPr lang="es-EC" sz="2000" b="0" i="0" u="none" strike="noStrike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s-EC" sz="2000" b="1" i="0" u="none" strike="noStrike" dirty="0">
                <a:solidFill>
                  <a:schemeClr val="bg1"/>
                </a:solidFill>
                <a:effectLst/>
              </a:rPr>
              <a:t>Validación híbrida (Reglas)</a:t>
            </a:r>
          </a:p>
          <a:p>
            <a:r>
              <a:rPr lang="es-EC" sz="2000" b="0" i="0" u="none" strike="noStrike" dirty="0">
                <a:solidFill>
                  <a:schemeClr val="bg1"/>
                </a:solidFill>
                <a:effectLst/>
              </a:rPr>
              <a:t>Expresiones regulares</a:t>
            </a:r>
          </a:p>
          <a:p>
            <a:r>
              <a:rPr lang="es-EC" sz="2000" b="0" i="0" u="none" strike="noStrike" dirty="0">
                <a:solidFill>
                  <a:schemeClr val="bg1"/>
                </a:solidFill>
                <a:effectLst/>
              </a:rPr>
              <a:t>Equilibrio entre exactitud y flexibilidad.</a:t>
            </a:r>
          </a:p>
          <a:p>
            <a:pPr marL="0" indent="0">
              <a:buNone/>
            </a:pPr>
            <a:endParaRPr lang="es-EC" sz="2000" b="0" i="0" u="none" strike="noStrike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s-EC" sz="2000" b="1" i="0" u="none" strike="noStrike" dirty="0">
                <a:solidFill>
                  <a:schemeClr val="bg1"/>
                </a:solidFill>
                <a:effectLst/>
              </a:rPr>
              <a:t>Arquitectura modular</a:t>
            </a:r>
          </a:p>
          <a:p>
            <a:r>
              <a:rPr lang="es-EC" sz="2000" b="0" i="0" u="none" strike="noStrike" dirty="0">
                <a:solidFill>
                  <a:schemeClr val="bg1"/>
                </a:solidFill>
                <a:effectLst/>
              </a:rPr>
              <a:t>Flujo: Imagen → OCR → Validación → Respuesta.</a:t>
            </a:r>
          </a:p>
          <a:p>
            <a:r>
              <a:rPr lang="es-EC" sz="2000" b="0" i="0" u="none" strike="noStrike" dirty="0">
                <a:solidFill>
                  <a:schemeClr val="bg1"/>
                </a:solidFill>
                <a:effectLst/>
              </a:rPr>
              <a:t>Facilita mejoras y mantenimiento.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82B62E92-D0EE-1A0E-F547-AD6206708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E6C125-41C3-4C57-B700-615D016FF57A}"/>
              </a:ext>
            </a:extLst>
          </p:cNvPr>
          <p:cNvSpPr txBox="1">
            <a:spLocks/>
          </p:cNvSpPr>
          <p:nvPr/>
        </p:nvSpPr>
        <p:spPr>
          <a:xfrm>
            <a:off x="4819697" y="2617013"/>
            <a:ext cx="3757060" cy="3171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C" sz="1600" b="1" dirty="0">
                <a:solidFill>
                  <a:schemeClr val="bg1"/>
                </a:solidFill>
              </a:rPr>
              <a:t>💬 Bot Telegram</a:t>
            </a:r>
          </a:p>
          <a:p>
            <a:r>
              <a:rPr lang="es-EC" sz="1600" dirty="0">
                <a:solidFill>
                  <a:schemeClr val="bg1"/>
                </a:solidFill>
              </a:rPr>
              <a:t>Comunicación directa con técnicos.</a:t>
            </a:r>
          </a:p>
          <a:p>
            <a:r>
              <a:rPr lang="es-EC" sz="1600" dirty="0">
                <a:solidFill>
                  <a:schemeClr val="bg1"/>
                </a:solidFill>
              </a:rPr>
              <a:t>Validación inmediata y trazable.</a:t>
            </a:r>
          </a:p>
          <a:p>
            <a:pPr marL="0" indent="0">
              <a:buNone/>
            </a:pPr>
            <a:endParaRPr lang="es-EC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C" sz="1600" b="1" dirty="0">
                <a:solidFill>
                  <a:schemeClr val="bg1"/>
                </a:solidFill>
              </a:rPr>
              <a:t>Eficiencia operativa</a:t>
            </a:r>
            <a:endParaRPr lang="es-EC" sz="1600" dirty="0">
              <a:solidFill>
                <a:schemeClr val="bg1"/>
              </a:solidFill>
            </a:endParaRPr>
          </a:p>
          <a:p>
            <a:r>
              <a:rPr lang="es-EC" sz="1600" dirty="0">
                <a:solidFill>
                  <a:schemeClr val="bg1"/>
                </a:solidFill>
              </a:rPr>
              <a:t>Validación en segundos.</a:t>
            </a:r>
          </a:p>
          <a:p>
            <a:r>
              <a:rPr lang="es-EC" sz="1600" dirty="0">
                <a:solidFill>
                  <a:schemeClr val="bg1"/>
                </a:solidFill>
              </a:rPr>
              <a:t>Menos errores y mayor productividad.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59949E25-62F9-D0B0-6BFB-30701DF8E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648" y="663477"/>
            <a:ext cx="8229600" cy="1143000"/>
          </a:xfrm>
        </p:spPr>
        <p:txBody>
          <a:bodyPr/>
          <a:lstStyle/>
          <a:p>
            <a:r>
              <a:rPr lang="es-EC" noProof="0" dirty="0">
                <a:solidFill>
                  <a:schemeClr val="bg1"/>
                </a:solidFill>
              </a:rPr>
              <a:t>PROCESO DE DESARROLLO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832D2749-E708-8637-F982-059C5D848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  <p:pic>
        <p:nvPicPr>
          <p:cNvPr id="9" name="Marcador de contenido 8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1743D6E-8723-4B24-5F0B-A0B57663D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230172" y="1688690"/>
            <a:ext cx="3257972" cy="4854286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E79CD01A-4740-3A6B-4DDE-297376F35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36" y="3347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0295" y="561331"/>
            <a:ext cx="4810996" cy="927500"/>
          </a:xfrm>
        </p:spPr>
        <p:txBody>
          <a:bodyPr>
            <a:noAutofit/>
          </a:bodyPr>
          <a:lstStyle/>
          <a:p>
            <a:r>
              <a:rPr lang="es-EC" sz="3200" noProof="0" dirty="0">
                <a:solidFill>
                  <a:schemeClr val="bg1"/>
                </a:solidFill>
              </a:rPr>
              <a:t>DESAFIOS Y SOLUCIONES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94D69A18-AA99-C7AF-F1D5-35946B0E77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4854514"/>
              </p:ext>
            </p:extLst>
          </p:nvPr>
        </p:nvGraphicFramePr>
        <p:xfrm>
          <a:off x="3770295" y="1704331"/>
          <a:ext cx="4991466" cy="1985368"/>
        </p:xfrm>
        <a:graphic>
          <a:graphicData uri="http://schemas.openxmlformats.org/drawingml/2006/table">
            <a:tbl>
              <a:tblPr/>
              <a:tblGrid>
                <a:gridCol w="2471000">
                  <a:extLst>
                    <a:ext uri="{9D8B030D-6E8A-4147-A177-3AD203B41FA5}">
                      <a16:colId xmlns:a16="http://schemas.microsoft.com/office/drawing/2014/main" val="537214483"/>
                    </a:ext>
                  </a:extLst>
                </a:gridCol>
                <a:gridCol w="2520466">
                  <a:extLst>
                    <a:ext uri="{9D8B030D-6E8A-4147-A177-3AD203B41FA5}">
                      <a16:colId xmlns:a16="http://schemas.microsoft.com/office/drawing/2014/main" val="2102885440"/>
                    </a:ext>
                  </a:extLst>
                </a:gridCol>
              </a:tblGrid>
              <a:tr h="276825">
                <a:tc>
                  <a:txBody>
                    <a:bodyPr/>
                    <a:lstStyle/>
                    <a:p>
                      <a:pPr algn="l"/>
                      <a:r>
                        <a:rPr lang="es-EC" sz="1300" b="1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Desafío</a:t>
                      </a:r>
                    </a:p>
                  </a:txBody>
                  <a:tcPr marL="65087" marR="65087" marT="32544" marB="325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3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Solución aplicada</a:t>
                      </a:r>
                    </a:p>
                  </a:txBody>
                  <a:tcPr marL="65087" marR="65087" marT="32544" marB="325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231137"/>
                  </a:ext>
                </a:extLst>
              </a:tr>
              <a:tr h="485195">
                <a:tc>
                  <a:txBody>
                    <a:bodyPr/>
                    <a:lstStyle/>
                    <a:p>
                      <a:pPr algn="l"/>
                      <a:r>
                        <a:rPr lang="es-EC" sz="130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Baja calidad o inclinación de imágenes</a:t>
                      </a:r>
                    </a:p>
                  </a:txBody>
                  <a:tcPr marL="65087" marR="65087" marT="32544" marB="325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3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Preprocesamiento con OpenCV</a:t>
                      </a:r>
                    </a:p>
                  </a:txBody>
                  <a:tcPr marL="65087" marR="65087" marT="32544" marB="325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170906"/>
                  </a:ext>
                </a:extLst>
              </a:tr>
              <a:tr h="276825">
                <a:tc>
                  <a:txBody>
                    <a:bodyPr/>
                    <a:lstStyle/>
                    <a:p>
                      <a:pPr algn="l"/>
                      <a:r>
                        <a:rPr lang="es-EC" sz="13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Errores de lectura OCR</a:t>
                      </a:r>
                    </a:p>
                  </a:txBody>
                  <a:tcPr marL="65087" marR="65087" marT="32544" marB="325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3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Normalización de texto y filtros regex</a:t>
                      </a:r>
                    </a:p>
                  </a:txBody>
                  <a:tcPr marL="65087" marR="65087" marT="32544" marB="325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084955"/>
                  </a:ext>
                </a:extLst>
              </a:tr>
              <a:tr h="276825">
                <a:tc>
                  <a:txBody>
                    <a:bodyPr/>
                    <a:lstStyle/>
                    <a:p>
                      <a:pPr algn="l"/>
                      <a:r>
                        <a:rPr lang="es-EC" sz="130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Inconsistencias en etiquetas</a:t>
                      </a:r>
                    </a:p>
                  </a:txBody>
                  <a:tcPr marL="65087" marR="65087" marT="32544" marB="325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3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Reglas de validación semántica </a:t>
                      </a:r>
                    </a:p>
                  </a:txBody>
                  <a:tcPr marL="65087" marR="65087" marT="32544" marB="325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443716"/>
                  </a:ext>
                </a:extLst>
              </a:tr>
              <a:tr h="485195">
                <a:tc>
                  <a:txBody>
                    <a:bodyPr/>
                    <a:lstStyle/>
                    <a:p>
                      <a:pPr algn="l"/>
                      <a:r>
                        <a:rPr lang="es-EC" sz="130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Retrasos en respuesta del bot</a:t>
                      </a:r>
                    </a:p>
                  </a:txBody>
                  <a:tcPr marL="65087" marR="65087" marT="32544" marB="325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3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Trabajoando en ello</a:t>
                      </a:r>
                    </a:p>
                  </a:txBody>
                  <a:tcPr marL="65087" marR="65087" marT="32544" marB="325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643273"/>
                  </a:ext>
                </a:extLst>
              </a:tr>
            </a:tbl>
          </a:graphicData>
        </a:graphic>
      </p:graphicFrame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24F79D25-E048-86AF-4AC1-F80AD5051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048998F-7092-050E-F894-A17BB29B8AA5}"/>
              </a:ext>
            </a:extLst>
          </p:cNvPr>
          <p:cNvSpPr txBox="1">
            <a:spLocks/>
          </p:cNvSpPr>
          <p:nvPr/>
        </p:nvSpPr>
        <p:spPr>
          <a:xfrm>
            <a:off x="-4536" y="3984463"/>
            <a:ext cx="4939954" cy="927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 sz="3200" dirty="0">
                <a:solidFill>
                  <a:schemeClr val="bg1"/>
                </a:solidFill>
              </a:rPr>
              <a:t>ANÁLISIS DE SENSIBILIDAD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6C1B74A-37A3-B654-67A7-D71CD72B5DDC}"/>
              </a:ext>
            </a:extLst>
          </p:cNvPr>
          <p:cNvSpPr txBox="1"/>
          <p:nvPr/>
        </p:nvSpPr>
        <p:spPr>
          <a:xfrm>
            <a:off x="269634" y="4927936"/>
            <a:ext cx="46657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C" sz="14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Se observó que valores mayores a 100 en n_estimators no aportaban mejora significativa.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C" sz="14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Un max_depth=20 ofrecía buen balance entre precisión y generalización.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C" sz="14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El min_samples_split=2 mostró el mejor rendimiento sin sobreajuste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E79CD01A-4740-3A6B-4DDE-297376F35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36" y="3347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480" y="949904"/>
            <a:ext cx="6569459" cy="2457362"/>
          </a:xfrm>
        </p:spPr>
        <p:txBody>
          <a:bodyPr>
            <a:noAutofit/>
          </a:bodyPr>
          <a:lstStyle/>
          <a:p>
            <a:r>
              <a:rPr lang="es-EC" sz="6600" b="1" noProof="0" dirty="0">
                <a:solidFill>
                  <a:schemeClr val="bg1"/>
                </a:solidFill>
              </a:rPr>
              <a:t>DEMO</a:t>
            </a:r>
            <a:br>
              <a:rPr lang="es-EC" sz="6600" b="1" noProof="0" dirty="0">
                <a:solidFill>
                  <a:schemeClr val="bg1"/>
                </a:solidFill>
              </a:rPr>
            </a:br>
            <a:r>
              <a:rPr lang="es-EC" sz="6600" b="1" noProof="0" dirty="0">
                <a:solidFill>
                  <a:schemeClr val="bg1"/>
                </a:solidFill>
              </a:rPr>
              <a:t>MPLS VISION BOT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24F79D25-E048-86AF-4AC1-F80AD5051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4948DB1-58AA-B26D-827B-9CF663665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10131">
            <a:off x="2391326" y="3580269"/>
            <a:ext cx="3569222" cy="282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38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E79CD01A-4740-3A6B-4DDE-297376F35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36" y="3347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8864" y="-30774"/>
            <a:ext cx="6569459" cy="1078188"/>
          </a:xfrm>
        </p:spPr>
        <p:txBody>
          <a:bodyPr>
            <a:noAutofit/>
          </a:bodyPr>
          <a:lstStyle/>
          <a:p>
            <a:r>
              <a:rPr lang="es-EC" sz="4000" b="1" noProof="0" dirty="0">
                <a:solidFill>
                  <a:schemeClr val="bg1"/>
                </a:solidFill>
              </a:rPr>
              <a:t>EVALUACION Y RESULTADOS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24F79D25-E048-86AF-4AC1-F80AD5051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1443" y="-80022"/>
            <a:ext cx="2605547" cy="260554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9611A5C-7961-DD72-4178-76ADFECEC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439" y="2742750"/>
            <a:ext cx="3742944" cy="165368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777BB63-FE97-B81C-3092-FF868F4E0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439" y="982490"/>
            <a:ext cx="3742944" cy="1607959"/>
          </a:xfrm>
          <a:prstGeom prst="rect">
            <a:avLst/>
          </a:prstGeom>
        </p:spPr>
      </p:pic>
      <p:sp>
        <p:nvSpPr>
          <p:cNvPr id="15" name="Marcador de contenido 8">
            <a:extLst>
              <a:ext uri="{FF2B5EF4-FFF2-40B4-BE49-F238E27FC236}">
                <a16:creationId xmlns:a16="http://schemas.microsoft.com/office/drawing/2014/main" id="{47C44559-83F3-27F5-C5E3-37AC42C2F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16" y="2525525"/>
            <a:ext cx="3742944" cy="4522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dirty="0">
                <a:solidFill>
                  <a:schemeClr val="bg1"/>
                </a:solidFill>
              </a:rPr>
              <a:t>📌 </a:t>
            </a:r>
            <a:r>
              <a:rPr lang="es-MX" sz="1800" b="1" dirty="0">
                <a:solidFill>
                  <a:schemeClr val="bg1"/>
                </a:solidFill>
              </a:rPr>
              <a:t>Observaciones</a:t>
            </a:r>
            <a:r>
              <a:rPr lang="es-MX" sz="1800" dirty="0">
                <a:solidFill>
                  <a:schemeClr val="bg1"/>
                </a:solidFill>
              </a:rPr>
              <a:t>:</a:t>
            </a:r>
          </a:p>
          <a:p>
            <a:br>
              <a:rPr lang="es-MX" sz="1800" dirty="0">
                <a:solidFill>
                  <a:schemeClr val="bg1"/>
                </a:solidFill>
              </a:rPr>
            </a:br>
            <a:r>
              <a:rPr lang="es-MX" sz="1800" dirty="0">
                <a:solidFill>
                  <a:schemeClr val="bg1"/>
                </a:solidFill>
              </a:rPr>
              <a:t>El modelo base ya mostraba un buen rendimiento inicial. Sin embargo, las estrategias de mejora aplicadas (aumento de estimadores y regularización con </a:t>
            </a:r>
            <a:r>
              <a:rPr lang="es-MX" sz="1800" dirty="0" err="1">
                <a:solidFill>
                  <a:schemeClr val="bg1"/>
                </a:solidFill>
              </a:rPr>
              <a:t>max_depth</a:t>
            </a:r>
            <a:r>
              <a:rPr lang="es-MX" sz="1800" dirty="0">
                <a:solidFill>
                  <a:schemeClr val="bg1"/>
                </a:solidFill>
              </a:rPr>
              <a:t>) lograron hacerlo </a:t>
            </a:r>
            <a:r>
              <a:rPr lang="es-MX" sz="1800" b="1" dirty="0">
                <a:solidFill>
                  <a:schemeClr val="bg1"/>
                </a:solidFill>
              </a:rPr>
              <a:t>más robusto y estable</a:t>
            </a:r>
            <a:r>
              <a:rPr lang="es-MX" sz="1800" dirty="0">
                <a:solidFill>
                  <a:schemeClr val="bg1"/>
                </a:solidFill>
              </a:rPr>
              <a:t>.</a:t>
            </a:r>
          </a:p>
          <a:p>
            <a:endParaRPr lang="es-MX" sz="1800" dirty="0">
              <a:solidFill>
                <a:schemeClr val="bg1"/>
              </a:solidFill>
            </a:endParaRPr>
          </a:p>
          <a:p>
            <a:r>
              <a:rPr lang="es-MX" sz="1800" dirty="0">
                <a:solidFill>
                  <a:schemeClr val="bg1"/>
                </a:solidFill>
              </a:rPr>
              <a:t>Explorar nuevas </a:t>
            </a:r>
            <a:r>
              <a:rPr lang="es-MX" sz="1800" b="1" dirty="0">
                <a:solidFill>
                  <a:schemeClr val="bg1"/>
                </a:solidFill>
              </a:rPr>
              <a:t>features predictoras</a:t>
            </a:r>
            <a:r>
              <a:rPr lang="es-MX" sz="1800" dirty="0">
                <a:solidFill>
                  <a:schemeClr val="bg1"/>
                </a:solidFill>
              </a:rPr>
              <a:t> (ej. variables adicionales del dataset)</a:t>
            </a:r>
          </a:p>
          <a:p>
            <a:pPr algn="ctr"/>
            <a:endParaRPr lang="es-EC" sz="1800" dirty="0">
              <a:solidFill>
                <a:schemeClr val="bg1"/>
              </a:solidFill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57653F90-2880-0F73-B07D-B9D2B0D24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39" y="4548734"/>
            <a:ext cx="3742944" cy="2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14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F4FCEBF4-E450-C3B9-0F71-10CB80D98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658" y="792931"/>
            <a:ext cx="7268308" cy="1143000"/>
          </a:xfrm>
        </p:spPr>
        <p:txBody>
          <a:bodyPr/>
          <a:lstStyle/>
          <a:p>
            <a:r>
              <a:rPr lang="es-EC" b="1" noProof="0" dirty="0">
                <a:solidFill>
                  <a:schemeClr val="bg1"/>
                </a:solidFill>
              </a:rPr>
              <a:t>COSIDERACIONES ETICAS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E319AE5F-E130-A050-717E-3383C529E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1801" y="-139003"/>
            <a:ext cx="2605547" cy="2605547"/>
          </a:xfrm>
          <a:prstGeom prst="rect">
            <a:avLst/>
          </a:prstGeo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8801ABBF-65B0-2769-1CCC-4F32E1206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60889" y="2607221"/>
            <a:ext cx="2168499" cy="16383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9145FB0-9CC3-9BDF-BCAB-9F1996640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88" y="4660219"/>
            <a:ext cx="2168500" cy="156277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25A8559-4E5F-576C-38EB-EC87F8D3E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0277" y="2598909"/>
            <a:ext cx="2113572" cy="16383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CB46448-60FA-1C53-FD34-91DF417BFF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0276" y="4660219"/>
            <a:ext cx="2113572" cy="157352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D67EEDF-2C95-337E-CC6B-7DC31FEE9A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1495" y="2598909"/>
            <a:ext cx="2362199" cy="164661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CDBEC07-F2F5-6A73-D973-DBCE62D141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1494" y="4660219"/>
            <a:ext cx="2362200" cy="15627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607A2563-61E5-1DCA-5D99-1302A5017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2442" y="427495"/>
            <a:ext cx="6633004" cy="1143000"/>
          </a:xfrm>
        </p:spPr>
        <p:txBody>
          <a:bodyPr>
            <a:normAutofit fontScale="90000"/>
          </a:bodyPr>
          <a:lstStyle/>
          <a:p>
            <a:r>
              <a:rPr lang="es-EC" noProof="0" dirty="0">
                <a:solidFill>
                  <a:schemeClr val="bg1"/>
                </a:solidFill>
              </a:rPr>
              <a:t>IMPACTO SOCIAL POTENCIAL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358E92C0-6B1A-81F1-AD9A-2F4B09417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A963848-BA38-E173-F895-9E3315226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571" y="1736021"/>
            <a:ext cx="4783716" cy="1016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2FFF95C-AEF5-453C-C4E4-8840715C6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8787" y="3039055"/>
            <a:ext cx="4762500" cy="1016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94F4252-7E33-951B-C258-5310E1B89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7571" y="4326429"/>
            <a:ext cx="4783716" cy="1016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EF972B7-9E43-306C-6AA4-848E86D459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7571" y="5613358"/>
            <a:ext cx="4783716" cy="90170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6270906-BE40-A5AD-136A-8BC782B973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870004">
            <a:off x="469668" y="3033042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607A2563-61E5-1DCA-5D99-1302A5017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2442" y="427495"/>
            <a:ext cx="6633004" cy="1143000"/>
          </a:xfrm>
        </p:spPr>
        <p:txBody>
          <a:bodyPr>
            <a:normAutofit fontScale="90000"/>
          </a:bodyPr>
          <a:lstStyle/>
          <a:p>
            <a:r>
              <a:rPr lang="es-EC" noProof="0" dirty="0">
                <a:solidFill>
                  <a:schemeClr val="bg1"/>
                </a:solidFill>
              </a:rPr>
              <a:t>MEDIDAS DE MITIGACION Y ETICA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358E92C0-6B1A-81F1-AD9A-2F4B09417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23FAF69-90FE-A222-F762-7F75EB551B8B}"/>
              </a:ext>
            </a:extLst>
          </p:cNvPr>
          <p:cNvSpPr txBox="1"/>
          <p:nvPr/>
        </p:nvSpPr>
        <p:spPr>
          <a:xfrm>
            <a:off x="2328250" y="1858920"/>
            <a:ext cx="532474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2000" b="1" dirty="0">
                <a:solidFill>
                  <a:schemeClr val="bg1"/>
                </a:solidFill>
              </a:rPr>
              <a:t>Medidas implementadas: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sz="2000" dirty="0">
                <a:solidFill>
                  <a:schemeClr val="bg1"/>
                </a:solidFill>
              </a:rPr>
              <a:t>No se almacenan imágenes ni datos personales.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sz="2000" dirty="0">
                <a:solidFill>
                  <a:schemeClr val="bg1"/>
                </a:solidFill>
              </a:rPr>
              <a:t>Procesamiento local y temporal de la información.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sz="2000" dirty="0">
                <a:solidFill>
                  <a:schemeClr val="bg1"/>
                </a:solidFill>
              </a:rPr>
              <a:t>Validaciones limitadas al entorno técnico autorizado.</a:t>
            </a:r>
          </a:p>
          <a:p>
            <a:endParaRPr lang="es-EC" sz="2000" dirty="0">
              <a:solidFill>
                <a:schemeClr val="bg1"/>
              </a:solidFill>
            </a:endParaRPr>
          </a:p>
          <a:p>
            <a:pPr algn="l"/>
            <a:r>
              <a:rPr lang="es-EC" sz="2000" dirty="0">
                <a:solidFill>
                  <a:schemeClr val="bg1"/>
                </a:solidFill>
              </a:rPr>
              <a:t>⚖️ </a:t>
            </a:r>
            <a:r>
              <a:rPr lang="es-EC" sz="2000" b="1" dirty="0">
                <a:solidFill>
                  <a:schemeClr val="bg1"/>
                </a:solidFill>
              </a:rPr>
              <a:t>Limitaciones éticas: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C" sz="2000" dirty="0">
                <a:solidFill>
                  <a:schemeClr val="bg1"/>
                </a:solidFill>
              </a:rPr>
              <a:t>I</a:t>
            </a:r>
            <a:r>
              <a:rPr lang="es-EC" sz="20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mágenes borrosas, movidas o mal iluminadas.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C" sz="20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Etiquetas sin estructura clara o con códigos no estandarizados.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C" sz="20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Formatos distintos a los definidos (MPLS Ecuador)</a:t>
            </a:r>
          </a:p>
          <a:p>
            <a:endParaRPr lang="es-EC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124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DF11D5EB-DDD3-52A6-F6FA-A79460B2A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6092" y="1167375"/>
            <a:ext cx="7432431" cy="1143000"/>
          </a:xfrm>
        </p:spPr>
        <p:txBody>
          <a:bodyPr>
            <a:normAutofit/>
          </a:bodyPr>
          <a:lstStyle/>
          <a:p>
            <a:r>
              <a:rPr lang="es-EC" sz="3200" noProof="0" dirty="0">
                <a:solidFill>
                  <a:schemeClr val="bg1"/>
                </a:solidFill>
              </a:rPr>
              <a:t>CONCLUSIONES Y TRABAJO FUTURO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EFB4B704-D2C4-2CAF-7FCE-B2B44B5A0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1B9D7105-7B61-7EE5-D1F0-A34DF572A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21" y="2444263"/>
            <a:ext cx="8229600" cy="3862754"/>
          </a:xfrm>
        </p:spPr>
        <p:txBody>
          <a:bodyPr>
            <a:normAutofit/>
          </a:bodyPr>
          <a:lstStyle/>
          <a:p>
            <a:pPr algn="just"/>
            <a:r>
              <a:rPr lang="es-EC" sz="2400" b="1" dirty="0">
                <a:solidFill>
                  <a:schemeClr val="bg1"/>
                </a:solidFill>
              </a:rPr>
              <a:t>Logros:</a:t>
            </a:r>
            <a:r>
              <a:rPr lang="es-EC" sz="2400" dirty="0">
                <a:solidFill>
                  <a:schemeClr val="bg1"/>
                </a:solidFill>
              </a:rPr>
              <a:t> Validación automática de etiquetas mediante visión computacional y bot en campo, mejorando precisión y estandarización.</a:t>
            </a:r>
          </a:p>
          <a:p>
            <a:pPr algn="just"/>
            <a:r>
              <a:rPr lang="es-EC" sz="2400" b="1" dirty="0">
                <a:solidFill>
                  <a:schemeClr val="bg1"/>
                </a:solidFill>
              </a:rPr>
              <a:t>Lecciones:</a:t>
            </a:r>
            <a:r>
              <a:rPr lang="es-EC" sz="2400" dirty="0">
                <a:solidFill>
                  <a:schemeClr val="bg1"/>
                </a:solidFill>
              </a:rPr>
              <a:t> La calidad de imagen y la colaboración técnico–modelo son claves para el éxito.</a:t>
            </a:r>
          </a:p>
          <a:p>
            <a:pPr algn="just"/>
            <a:r>
              <a:rPr lang="es-EC" sz="2400" b="1" dirty="0">
                <a:solidFill>
                  <a:schemeClr val="bg1"/>
                </a:solidFill>
              </a:rPr>
              <a:t>Mejoras:</a:t>
            </a:r>
            <a:r>
              <a:rPr lang="es-EC" sz="2400" dirty="0">
                <a:solidFill>
                  <a:schemeClr val="bg1"/>
                </a:solidFill>
              </a:rPr>
              <a:t> Ampliar dataset, optimizar precisión e integrar inventario en tiempo real.</a:t>
            </a:r>
          </a:p>
          <a:p>
            <a:pPr algn="just"/>
            <a:r>
              <a:rPr lang="es-EC" sz="2400" b="1" dirty="0">
                <a:solidFill>
                  <a:schemeClr val="bg1"/>
                </a:solidFill>
              </a:rPr>
              <a:t>Aplicaciones:</a:t>
            </a:r>
            <a:r>
              <a:rPr lang="es-EC" sz="2400" dirty="0">
                <a:solidFill>
                  <a:schemeClr val="bg1"/>
                </a:solidFill>
              </a:rPr>
              <a:t> Implementación en logística, manufactura e inspección industria</a:t>
            </a:r>
          </a:p>
          <a:p>
            <a:pPr algn="ctr"/>
            <a:endParaRPr lang="es-EC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E57AB7D9-10C8-CAA2-8B14-B2E42B405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" y="0"/>
            <a:ext cx="9142863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2243</TotalTime>
  <Words>606</Words>
  <Application>Microsoft Office PowerPoint</Application>
  <PresentationFormat>Presentación en pantalla (4:3)</PresentationFormat>
  <Paragraphs>85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-apple-system</vt:lpstr>
      <vt:lpstr>Arial</vt:lpstr>
      <vt:lpstr>Calibri</vt:lpstr>
      <vt:lpstr>-webkit-standard</vt:lpstr>
      <vt:lpstr>Office Theme</vt:lpstr>
      <vt:lpstr>Presentación de PowerPoint</vt:lpstr>
      <vt:lpstr>Proyecto Final – Maestría UEES</vt:lpstr>
      <vt:lpstr>PROBLEMA QUE RESUELVE</vt:lpstr>
      <vt:lpstr>DATASET</vt:lpstr>
      <vt:lpstr>PREPROCESAMIENTO</vt:lpstr>
      <vt:lpstr>TIPO DE MODELO Y ARQUITECTURA</vt:lpstr>
      <vt:lpstr>JUSTIFICACION DE DECISIONES TECNICAS</vt:lpstr>
      <vt:lpstr>PROCESO DE DESARROLLO</vt:lpstr>
      <vt:lpstr>DESAFIOS Y SOLUCIONES</vt:lpstr>
      <vt:lpstr>DEMO MPLS VISION BOT</vt:lpstr>
      <vt:lpstr>EVALUACION Y RESULTADOS</vt:lpstr>
      <vt:lpstr>COSIDERACIONES ETICAS</vt:lpstr>
      <vt:lpstr>IMPACTO SOCIAL POTENCIAL</vt:lpstr>
      <vt:lpstr>MEDIDAS DE MITIGACION Y ETICA</vt:lpstr>
      <vt:lpstr>CONCLUSIONES Y TRABAJO FUTURO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Ismael Andrade (TN)</cp:lastModifiedBy>
  <cp:revision>37</cp:revision>
  <dcterms:created xsi:type="dcterms:W3CDTF">2013-01-27T09:14:16Z</dcterms:created>
  <dcterms:modified xsi:type="dcterms:W3CDTF">2025-10-25T01:22:22Z</dcterms:modified>
  <cp:category/>
</cp:coreProperties>
</file>