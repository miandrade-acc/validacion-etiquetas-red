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2331-2F00-1FDA-0346-50627319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50F1377-5A91-D274-18BF-03720342E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9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DCFE1EBF-A225-ECEB-92A6-6D74579CA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4103" y="904648"/>
            <a:ext cx="6390968" cy="130761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chemeClr val="bg1"/>
                </a:solidFill>
              </a:rPr>
              <a:t>Validación automática de etiquetas de red mediante visión computacional y </a:t>
            </a:r>
            <a:r>
              <a:rPr lang="es-MX" dirty="0" err="1">
                <a:solidFill>
                  <a:schemeClr val="bg1"/>
                </a:solidFill>
              </a:rPr>
              <a:t>bot</a:t>
            </a:r>
            <a:r>
              <a:rPr lang="es-MX" dirty="0">
                <a:solidFill>
                  <a:schemeClr val="bg1"/>
                </a:solidFill>
              </a:rPr>
              <a:t> en campo</a:t>
            </a:r>
            <a:endParaRPr lang="es-EC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632" y="3523440"/>
            <a:ext cx="7855975" cy="2473559"/>
          </a:xfrm>
        </p:spPr>
        <p:txBody>
          <a:bodyPr>
            <a:normAutofit/>
          </a:bodyPr>
          <a:lstStyle/>
          <a:p>
            <a:pPr algn="just"/>
            <a:r>
              <a:rPr lang="es-MX" sz="2400" dirty="0">
                <a:solidFill>
                  <a:schemeClr val="bg1"/>
                </a:solidFill>
              </a:rPr>
              <a:t>En las operaciones de redes de fibra óptica, la validación manual de etiquetas MPLS es propensa a errores. El sistema propuesto utiliza visión computacional y automatización móvil para escanear, interpretar y verificar etiquetas en tiempo real, mejorando trazabilidad, eficiencia y calidad operativa.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451139A-2B63-37EC-12C9-37E93C041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6579FBA8-CF5C-7BDF-B71F-D60836B13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432" y="478170"/>
            <a:ext cx="8229600" cy="1143000"/>
          </a:xfrm>
        </p:spPr>
        <p:txBody>
          <a:bodyPr>
            <a:normAutofit/>
          </a:bodyPr>
          <a:lstStyle/>
          <a:p>
            <a:r>
              <a:rPr lang="es-EC" sz="5400" dirty="0">
                <a:solidFill>
                  <a:schemeClr val="bg1"/>
                </a:solidFill>
              </a:rPr>
              <a:t>Stakeholders e 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867" y="2097667"/>
            <a:ext cx="6578355" cy="3427325"/>
          </a:xfrm>
        </p:spPr>
        <p:txBody>
          <a:bodyPr>
            <a:normAutofit fontScale="55000" lnSpcReduction="20000"/>
          </a:bodyPr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MX" sz="4400" b="1" dirty="0">
                <a:solidFill>
                  <a:schemeClr val="bg1"/>
                </a:solidFill>
                <a:latin typeface="-webkit-standard"/>
              </a:rPr>
              <a:t>Stakeholders principales: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Técnicos de campo: validación automatizada, menor error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Supervisores de calidad: trazabilidad y alertas en tiempo real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Área de operaciones: decisiones basadas en datos confiables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Clientes finales: mejora en estabilidad del servicio</a:t>
            </a:r>
          </a:p>
          <a:p>
            <a:endParaRPr lang="es-MX" sz="3300" dirty="0">
              <a:solidFill>
                <a:schemeClr val="bg1"/>
              </a:solidFill>
              <a:latin typeface="-webkit-standard"/>
            </a:endParaRPr>
          </a:p>
          <a:p>
            <a:pPr marL="0" indent="0">
              <a:buNone/>
            </a:pPr>
            <a:r>
              <a:rPr lang="es-MX" sz="4400" b="1" dirty="0">
                <a:solidFill>
                  <a:schemeClr val="bg1"/>
                </a:solidFill>
                <a:latin typeface="-webkit-standard"/>
              </a:rPr>
              <a:t>Grupos vulnerables: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Técnicos con baja alfabetización digital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Personal en zonas sin conectividad</a:t>
            </a:r>
          </a:p>
          <a:p>
            <a:r>
              <a:rPr lang="es-MX" sz="3300" dirty="0">
                <a:solidFill>
                  <a:schemeClr val="bg1"/>
                </a:solidFill>
                <a:latin typeface="-webkit-standard"/>
              </a:rPr>
              <a:t>Usuarios temporales o sin acceso a la app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A97A77E6-3B40-DC3B-BDF5-B6F95F33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3CB9BBB-364F-4F45-5E5D-87CBAB1BE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0349" y="837716"/>
            <a:ext cx="7236542" cy="933459"/>
          </a:xfrm>
        </p:spPr>
        <p:txBody>
          <a:bodyPr>
            <a:normAutofit fontScale="90000"/>
          </a:bodyPr>
          <a:lstStyle/>
          <a:p>
            <a:r>
              <a:rPr lang="es-EC" sz="6000" noProof="0" dirty="0">
                <a:solidFill>
                  <a:schemeClr val="bg1"/>
                </a:solidFill>
              </a:rPr>
              <a:t> </a:t>
            </a:r>
            <a:r>
              <a:rPr lang="es-EC" sz="6000" dirty="0"/>
              <a:t> </a:t>
            </a:r>
            <a:r>
              <a:rPr lang="es-EC" sz="6000" dirty="0">
                <a:solidFill>
                  <a:schemeClr val="bg1"/>
                </a:solidFill>
              </a:rPr>
              <a:t>Top 3 Riesgos Éticos 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2909D965-89CD-E4B7-C518-A12E51B8B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5D6F695-20CA-B306-4F07-E1A7A4BE9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270" y="2037415"/>
            <a:ext cx="7520543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Captura involuntaria de datos sensibles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➡️ Puede incluir rostros, notas privadas o instalaciones.</a:t>
            </a:r>
            <a:b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Grupo afectado:</a:t>
            </a: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Técnicos y clientes internos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C" altLang="es-EC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Sesgos en condiciones visuales adversas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➡️ Mayor tasa de error con etiquetas blancas o mal iluminadas.</a:t>
            </a:r>
            <a:b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Grupo afectado:</a:t>
            </a: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Técnicos en campo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C" altLang="es-EC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Reducción de autonomía del técnico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➡️ El sistema podría invalidar su criterio profesional.</a:t>
            </a:r>
            <a:b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s-EC" altLang="es-EC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Grupo afectado:</a:t>
            </a:r>
            <a:r>
              <a:rPr kumimoji="0" lang="es-EC" altLang="es-EC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Técnicos de campo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0FE47FE7-F648-7F82-9C79-69723628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755" y="732946"/>
            <a:ext cx="7737231" cy="1143000"/>
          </a:xfrm>
        </p:spPr>
        <p:txBody>
          <a:bodyPr>
            <a:normAutofit/>
          </a:bodyPr>
          <a:lstStyle/>
          <a:p>
            <a:r>
              <a:rPr lang="es-EC" dirty="0"/>
              <a:t> </a:t>
            </a:r>
            <a:r>
              <a:rPr lang="es-EC" dirty="0">
                <a:solidFill>
                  <a:schemeClr val="bg1"/>
                </a:solidFill>
              </a:rPr>
              <a:t>Estrategias de Mitigación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374" y="2778689"/>
            <a:ext cx="7900612" cy="3142441"/>
          </a:xfrm>
        </p:spPr>
        <p:txBody>
          <a:bodyPr>
            <a:normAutofit fontScale="92500" lnSpcReduction="10000"/>
          </a:bodyPr>
          <a:lstStyle/>
          <a:p>
            <a:r>
              <a:rPr lang="es-MX" sz="2600" b="1" dirty="0">
                <a:solidFill>
                  <a:schemeClr val="bg1"/>
                </a:solidFill>
              </a:rPr>
              <a:t>R1. Privacidad: </a:t>
            </a:r>
            <a:r>
              <a:rPr lang="es-MX" sz="2000" dirty="0">
                <a:solidFill>
                  <a:schemeClr val="bg1"/>
                </a:solidFill>
              </a:rPr>
              <a:t>Segmentación automática del área de interés</a:t>
            </a:r>
            <a:br>
              <a:rPr lang="es-MX" sz="2000" dirty="0">
                <a:solidFill>
                  <a:schemeClr val="bg1"/>
                </a:solidFill>
              </a:rPr>
            </a:br>
            <a:r>
              <a:rPr lang="es-MX" sz="2000" dirty="0">
                <a:solidFill>
                  <a:schemeClr val="bg1"/>
                </a:solidFill>
              </a:rPr>
              <a:t>🔧 Técnica – Filtrado, recorte y revisión de imágenes</a:t>
            </a:r>
          </a:p>
          <a:p>
            <a:endParaRPr lang="es-MX" sz="2000" dirty="0">
              <a:solidFill>
                <a:schemeClr val="bg1"/>
              </a:solidFill>
            </a:endParaRPr>
          </a:p>
          <a:p>
            <a:r>
              <a:rPr lang="es-MX" sz="2600" b="1" dirty="0">
                <a:solidFill>
                  <a:schemeClr val="bg1"/>
                </a:solidFill>
              </a:rPr>
              <a:t>R2. Sesgos visuales: </a:t>
            </a:r>
            <a:r>
              <a:rPr lang="es-MX" sz="2000" dirty="0" err="1">
                <a:solidFill>
                  <a:schemeClr val="bg1"/>
                </a:solidFill>
              </a:rPr>
              <a:t>Dataset</a:t>
            </a:r>
            <a:r>
              <a:rPr lang="es-MX" sz="2000" dirty="0">
                <a:solidFill>
                  <a:schemeClr val="bg1"/>
                </a:solidFill>
              </a:rPr>
              <a:t> balanceado + validación por subgrupos</a:t>
            </a:r>
            <a:br>
              <a:rPr lang="es-MX" sz="2000" dirty="0">
                <a:solidFill>
                  <a:schemeClr val="bg1"/>
                </a:solidFill>
              </a:rPr>
            </a:br>
            <a:r>
              <a:rPr lang="es-MX" sz="2000" dirty="0">
                <a:solidFill>
                  <a:schemeClr val="bg1"/>
                </a:solidFill>
              </a:rPr>
              <a:t>🔧 Técnica – </a:t>
            </a:r>
            <a:r>
              <a:rPr lang="es-MX" sz="2000" dirty="0" err="1">
                <a:solidFill>
                  <a:schemeClr val="bg1"/>
                </a:solidFill>
              </a:rPr>
              <a:t>Augmentation</a:t>
            </a:r>
            <a:r>
              <a:rPr lang="es-MX" sz="2000" dirty="0">
                <a:solidFill>
                  <a:schemeClr val="bg1"/>
                </a:solidFill>
              </a:rPr>
              <a:t> + </a:t>
            </a:r>
            <a:r>
              <a:rPr lang="es-MX" sz="2000" dirty="0" err="1">
                <a:solidFill>
                  <a:schemeClr val="bg1"/>
                </a:solidFill>
              </a:rPr>
              <a:t>testing</a:t>
            </a:r>
            <a:r>
              <a:rPr lang="es-MX" sz="2000" dirty="0">
                <a:solidFill>
                  <a:schemeClr val="bg1"/>
                </a:solidFill>
              </a:rPr>
              <a:t> estratificado</a:t>
            </a:r>
          </a:p>
          <a:p>
            <a:endParaRPr lang="es-MX" sz="2000" dirty="0">
              <a:solidFill>
                <a:schemeClr val="bg1"/>
              </a:solidFill>
            </a:endParaRPr>
          </a:p>
          <a:p>
            <a:r>
              <a:rPr lang="es-MX" sz="2600" b="1" dirty="0">
                <a:solidFill>
                  <a:schemeClr val="bg1"/>
                </a:solidFill>
              </a:rPr>
              <a:t>R3. Autonomía técnica: </a:t>
            </a:r>
            <a:r>
              <a:rPr lang="es-MX" sz="2000" dirty="0">
                <a:solidFill>
                  <a:schemeClr val="bg1"/>
                </a:solidFill>
              </a:rPr>
              <a:t>Validación manual justificada + botón de apelación</a:t>
            </a:r>
            <a:br>
              <a:rPr lang="es-MX" sz="2000" dirty="0">
                <a:solidFill>
                  <a:schemeClr val="bg1"/>
                </a:solidFill>
              </a:rPr>
            </a:br>
            <a:r>
              <a:rPr lang="es-MX" sz="2000" dirty="0">
                <a:solidFill>
                  <a:schemeClr val="bg1"/>
                </a:solidFill>
              </a:rPr>
              <a:t>📋 Política + Educación – Supervisión + formación continua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5F25147D-756A-215A-3BDE-9B3DCEA7D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2CDF99D7-C3C2-CE14-5871-FB4EB0CC5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8012" y="216877"/>
            <a:ext cx="6866108" cy="1143000"/>
          </a:xfrm>
        </p:spPr>
        <p:txBody>
          <a:bodyPr>
            <a:normAutofit fontScale="90000"/>
          </a:bodyPr>
          <a:lstStyle/>
          <a:p>
            <a:r>
              <a:rPr lang="es-EC" dirty="0">
                <a:solidFill>
                  <a:schemeClr val="bg1"/>
                </a:solidFill>
              </a:rPr>
              <a:t>Framework de Responsabilidad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3887" y="1296534"/>
            <a:ext cx="6945053" cy="4815886"/>
          </a:xfrm>
        </p:spPr>
        <p:txBody>
          <a:bodyPr>
            <a:normAutofit fontScale="85000" lnSpcReduction="20000"/>
          </a:bodyPr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MX" sz="2800" b="1" dirty="0">
                <a:solidFill>
                  <a:schemeClr val="bg1"/>
                </a:solidFill>
              </a:rPr>
              <a:t>Cadena de Responsabilidad:</a:t>
            </a:r>
          </a:p>
          <a:p>
            <a:r>
              <a:rPr lang="es-MX" sz="2100" dirty="0">
                <a:solidFill>
                  <a:schemeClr val="bg1"/>
                </a:solidFill>
              </a:rPr>
              <a:t>Data </a:t>
            </a:r>
            <a:r>
              <a:rPr lang="es-MX" sz="2100" dirty="0" err="1">
                <a:solidFill>
                  <a:schemeClr val="bg1"/>
                </a:solidFill>
              </a:rPr>
              <a:t>Scientists</a:t>
            </a:r>
            <a:r>
              <a:rPr lang="es-MX" sz="2100" dirty="0">
                <a:solidFill>
                  <a:schemeClr val="bg1"/>
                </a:solidFill>
              </a:rPr>
              <a:t> → </a:t>
            </a:r>
            <a:r>
              <a:rPr lang="es-MX" sz="2100" dirty="0" err="1">
                <a:solidFill>
                  <a:schemeClr val="bg1"/>
                </a:solidFill>
              </a:rPr>
              <a:t>Fairness</a:t>
            </a:r>
            <a:r>
              <a:rPr lang="es-MX" sz="2100" dirty="0">
                <a:solidFill>
                  <a:schemeClr val="bg1"/>
                </a:solidFill>
              </a:rPr>
              <a:t>, precisión</a:t>
            </a:r>
          </a:p>
          <a:p>
            <a:r>
              <a:rPr lang="es-MX" sz="2100" dirty="0">
                <a:solidFill>
                  <a:schemeClr val="bg1"/>
                </a:solidFill>
              </a:rPr>
              <a:t>Desarrolladores → Integración técnica</a:t>
            </a:r>
          </a:p>
          <a:p>
            <a:r>
              <a:rPr lang="es-MX" sz="2100" dirty="0">
                <a:solidFill>
                  <a:schemeClr val="bg1"/>
                </a:solidFill>
              </a:rPr>
              <a:t>Supervisores → Validación en campo</a:t>
            </a:r>
          </a:p>
          <a:p>
            <a:r>
              <a:rPr lang="es-MX" sz="2100" dirty="0">
                <a:solidFill>
                  <a:schemeClr val="bg1"/>
                </a:solidFill>
              </a:rPr>
              <a:t>Organización → Gobierno ético y cumplimiento</a:t>
            </a:r>
          </a:p>
          <a:p>
            <a:endParaRPr lang="es-MX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MX" sz="2800" b="1" dirty="0" err="1">
                <a:solidFill>
                  <a:schemeClr val="bg1"/>
                </a:solidFill>
              </a:rPr>
              <a:t>Accountability</a:t>
            </a:r>
            <a:r>
              <a:rPr lang="es-MX" sz="2800" b="1" dirty="0">
                <a:solidFill>
                  <a:schemeClr val="bg1"/>
                </a:solidFill>
              </a:rPr>
              <a:t> activo:</a:t>
            </a:r>
          </a:p>
          <a:p>
            <a:r>
              <a:rPr lang="es-MX" sz="2100" dirty="0" err="1">
                <a:solidFill>
                  <a:schemeClr val="bg1"/>
                </a:solidFill>
              </a:rPr>
              <a:t>Model</a:t>
            </a:r>
            <a:r>
              <a:rPr lang="es-MX" sz="2100" dirty="0">
                <a:solidFill>
                  <a:schemeClr val="bg1"/>
                </a:solidFill>
              </a:rPr>
              <a:t> </a:t>
            </a:r>
            <a:r>
              <a:rPr lang="es-MX" sz="2100" dirty="0" err="1">
                <a:solidFill>
                  <a:schemeClr val="bg1"/>
                </a:solidFill>
              </a:rPr>
              <a:t>Card</a:t>
            </a:r>
            <a:r>
              <a:rPr lang="es-MX" sz="2100" dirty="0">
                <a:solidFill>
                  <a:schemeClr val="bg1"/>
                </a:solidFill>
              </a:rPr>
              <a:t> + </a:t>
            </a:r>
            <a:r>
              <a:rPr lang="es-MX" sz="2100" dirty="0" err="1">
                <a:solidFill>
                  <a:schemeClr val="bg1"/>
                </a:solidFill>
              </a:rPr>
              <a:t>Datasheet</a:t>
            </a:r>
            <a:r>
              <a:rPr lang="es-MX" sz="2100" dirty="0">
                <a:solidFill>
                  <a:schemeClr val="bg1"/>
                </a:solidFill>
              </a:rPr>
              <a:t> + </a:t>
            </a:r>
            <a:r>
              <a:rPr lang="es-MX" sz="2100" dirty="0" err="1">
                <a:solidFill>
                  <a:schemeClr val="bg1"/>
                </a:solidFill>
              </a:rPr>
              <a:t>Ethics</a:t>
            </a:r>
            <a:r>
              <a:rPr lang="es-MX" sz="2100" dirty="0">
                <a:solidFill>
                  <a:schemeClr val="bg1"/>
                </a:solidFill>
              </a:rPr>
              <a:t> </a:t>
            </a:r>
            <a:r>
              <a:rPr lang="es-MX" sz="2100" dirty="0" err="1">
                <a:solidFill>
                  <a:schemeClr val="bg1"/>
                </a:solidFill>
              </a:rPr>
              <a:t>Statement</a:t>
            </a:r>
            <a:endParaRPr lang="es-MX" sz="2100" dirty="0">
              <a:solidFill>
                <a:schemeClr val="bg1"/>
              </a:solidFill>
            </a:endParaRPr>
          </a:p>
          <a:p>
            <a:r>
              <a:rPr lang="es-MX" sz="2100" dirty="0">
                <a:solidFill>
                  <a:schemeClr val="bg1"/>
                </a:solidFill>
              </a:rPr>
              <a:t>Auditorías trimestrales</a:t>
            </a:r>
          </a:p>
          <a:p>
            <a:r>
              <a:rPr lang="es-MX" sz="2100" dirty="0">
                <a:solidFill>
                  <a:schemeClr val="bg1"/>
                </a:solidFill>
              </a:rPr>
              <a:t>Proceso de apelación formal</a:t>
            </a:r>
          </a:p>
          <a:p>
            <a:r>
              <a:rPr lang="es-MX" sz="2100" dirty="0">
                <a:solidFill>
                  <a:schemeClr val="bg1"/>
                </a:solidFill>
              </a:rPr>
              <a:t>Alertas y reportes de incidentes</a:t>
            </a:r>
          </a:p>
          <a:p>
            <a:endParaRPr lang="es-MX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MX" sz="2800" b="1" dirty="0">
                <a:solidFill>
                  <a:schemeClr val="bg1"/>
                </a:solidFill>
              </a:rPr>
              <a:t>Compromiso ético:</a:t>
            </a:r>
          </a:p>
          <a:p>
            <a:r>
              <a:rPr lang="es-MX" sz="2100" dirty="0">
                <a:solidFill>
                  <a:schemeClr val="bg1"/>
                </a:solidFill>
              </a:rPr>
              <a:t>Nos comprometemos a evaluar </a:t>
            </a:r>
            <a:r>
              <a:rPr lang="es-MX" sz="2100" dirty="0" err="1">
                <a:solidFill>
                  <a:schemeClr val="bg1"/>
                </a:solidFill>
              </a:rPr>
              <a:t>fairness</a:t>
            </a:r>
            <a:r>
              <a:rPr lang="es-MX" sz="2100" dirty="0">
                <a:solidFill>
                  <a:schemeClr val="bg1"/>
                </a:solidFill>
              </a:rPr>
              <a:t>, mejorar explicabilidad y proteger a los técnicos en todas las fases del sistema.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2B62E92-D0EE-1A0E-F547-AD6206708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ntalla de computadora con un control en la mano&#10;&#10;El contenido generado por IA puede ser incorrecto.">
            <a:extLst>
              <a:ext uri="{FF2B5EF4-FFF2-40B4-BE49-F238E27FC236}">
                <a16:creationId xmlns:a16="http://schemas.microsoft.com/office/drawing/2014/main" id="{59949E25-62F9-D0B0-6BFB-30701DF8E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9144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406" y="502559"/>
            <a:ext cx="8229600" cy="1143000"/>
          </a:xfrm>
        </p:spPr>
        <p:txBody>
          <a:bodyPr/>
          <a:lstStyle/>
          <a:p>
            <a:r>
              <a:rPr lang="es-EC" dirty="0">
                <a:solidFill>
                  <a:schemeClr val="bg1"/>
                </a:solidFill>
              </a:rPr>
              <a:t>Reflexión y Aprendizajes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645559"/>
            <a:ext cx="7010400" cy="4253795"/>
          </a:xfrm>
        </p:spPr>
        <p:txBody>
          <a:bodyPr>
            <a:normAutofit/>
          </a:bodyPr>
          <a:lstStyle/>
          <a:p>
            <a:endParaRPr lang="es-EC" noProof="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MX" sz="2400" b="1" dirty="0">
                <a:solidFill>
                  <a:schemeClr val="bg1"/>
                </a:solidFill>
              </a:rPr>
              <a:t>Aprendizaje clave:</a:t>
            </a:r>
            <a:br>
              <a:rPr lang="es-MX" sz="1800" dirty="0">
                <a:solidFill>
                  <a:schemeClr val="bg1"/>
                </a:solidFill>
              </a:rPr>
            </a:br>
            <a:r>
              <a:rPr lang="es-MX" sz="1800" dirty="0">
                <a:solidFill>
                  <a:schemeClr val="bg1"/>
                </a:solidFill>
              </a:rPr>
              <a:t>El éxito de una solución de IA no depende solo de su precisión, sino de cómo se integra en la vida y decisiones de sus usuarios.</a:t>
            </a:r>
          </a:p>
          <a:p>
            <a:pPr marL="0" indent="0">
              <a:buNone/>
            </a:pPr>
            <a:endParaRPr lang="es-MX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MX" sz="2400" b="1" dirty="0">
                <a:solidFill>
                  <a:schemeClr val="bg1"/>
                </a:solidFill>
              </a:rPr>
              <a:t>Cambio implementado:</a:t>
            </a:r>
            <a:br>
              <a:rPr lang="es-MX" sz="1800" dirty="0">
                <a:solidFill>
                  <a:schemeClr val="bg1"/>
                </a:solidFill>
              </a:rPr>
            </a:br>
            <a:r>
              <a:rPr lang="es-MX" sz="1800" dirty="0">
                <a:solidFill>
                  <a:schemeClr val="bg1"/>
                </a:solidFill>
              </a:rPr>
              <a:t>Ahora priorizamos explicabilidad, participación técnica y protocolos de apelación como parte central del diseño.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32D2749-E708-8637-F982-059C5D848D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341" y="1673"/>
            <a:ext cx="2605547" cy="26055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393</Words>
  <Application>Microsoft Office PowerPoint</Application>
  <PresentationFormat>Presentación en pantalla (4:3)</PresentationFormat>
  <Paragraphs>50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-webkit-standard</vt:lpstr>
      <vt:lpstr>Office Theme</vt:lpstr>
      <vt:lpstr>Presentación de PowerPoint</vt:lpstr>
      <vt:lpstr>Validación automática de etiquetas de red mediante visión computacional y bot en campo</vt:lpstr>
      <vt:lpstr>Stakeholders e Impacto</vt:lpstr>
      <vt:lpstr>  Top 3 Riesgos Éticos </vt:lpstr>
      <vt:lpstr> Estrategias de Mitigación</vt:lpstr>
      <vt:lpstr>Framework de Responsabilidad</vt:lpstr>
      <vt:lpstr>Reflexión y Aprendizajes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Ismael Andrade (TN)</cp:lastModifiedBy>
  <cp:revision>31</cp:revision>
  <dcterms:created xsi:type="dcterms:W3CDTF">2013-01-27T09:14:16Z</dcterms:created>
  <dcterms:modified xsi:type="dcterms:W3CDTF">2025-10-07T18:17:05Z</dcterms:modified>
  <cp:category/>
</cp:coreProperties>
</file>