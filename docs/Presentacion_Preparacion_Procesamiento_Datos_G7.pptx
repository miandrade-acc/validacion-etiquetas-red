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9" r:id="rId14"/>
    <p:sldId id="271" r:id="rId15"/>
    <p:sldId id="27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62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B2331-2F00-1FDA-0346-50627319E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050F1377-5A91-D274-18BF-03720342E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290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ntalla de computadora con un control en la mano&#10;&#10;El contenido generado por IA puede ser incorrecto.">
            <a:extLst>
              <a:ext uri="{FF2B5EF4-FFF2-40B4-BE49-F238E27FC236}">
                <a16:creationId xmlns:a16="http://schemas.microsoft.com/office/drawing/2014/main" id="{DCFE1EBF-A225-ECEB-92A6-6D74579CA6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9144000" cy="6854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16249" y="561231"/>
            <a:ext cx="7205720" cy="1642707"/>
          </a:xfrm>
        </p:spPr>
        <p:txBody>
          <a:bodyPr/>
          <a:lstStyle/>
          <a:p>
            <a:r>
              <a:rPr lang="es-EC" noProof="0" dirty="0">
                <a:solidFill>
                  <a:schemeClr val="bg1"/>
                </a:solidFill>
              </a:rPr>
              <a:t>Proyecto Final – Maestría UEES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6748" y="2825271"/>
            <a:ext cx="7855975" cy="2473559"/>
          </a:xfrm>
        </p:spPr>
        <p:txBody>
          <a:bodyPr>
            <a:normAutofit lnSpcReduction="10000"/>
          </a:bodyPr>
          <a:lstStyle/>
          <a:p>
            <a:r>
              <a:rPr lang="es-EC" sz="2400" noProof="0" dirty="0">
                <a:solidFill>
                  <a:schemeClr val="bg1"/>
                </a:solidFill>
              </a:rPr>
              <a:t>Validación automática de etiquetas de red</a:t>
            </a:r>
          </a:p>
          <a:p>
            <a:r>
              <a:rPr lang="es-EC" sz="2400" noProof="0" dirty="0">
                <a:solidFill>
                  <a:schemeClr val="bg1"/>
                </a:solidFill>
              </a:rPr>
              <a:t>Visión computacional – Cajas MPLS</a:t>
            </a:r>
          </a:p>
          <a:p>
            <a:r>
              <a:rPr lang="es-EC" sz="2400" noProof="0" dirty="0">
                <a:solidFill>
                  <a:schemeClr val="bg1"/>
                </a:solidFill>
              </a:rPr>
              <a:t>Preparación y Procesamiento de Datos</a:t>
            </a:r>
          </a:p>
          <a:p>
            <a:endParaRPr lang="es-EC" sz="2400" noProof="0" dirty="0">
              <a:solidFill>
                <a:schemeClr val="bg1"/>
              </a:solidFill>
            </a:endParaRPr>
          </a:p>
          <a:p>
            <a:r>
              <a:rPr lang="es-EC" sz="2400" noProof="0" dirty="0">
                <a:solidFill>
                  <a:schemeClr val="bg1"/>
                </a:solidFill>
              </a:rPr>
              <a:t>Autores: María Augusta Flores y Marcelo Ismael Andrade</a:t>
            </a:r>
          </a:p>
          <a:p>
            <a:r>
              <a:rPr lang="es-EC" sz="2400" noProof="0" dirty="0">
                <a:solidFill>
                  <a:schemeClr val="bg1"/>
                </a:solidFill>
              </a:rPr>
              <a:t>Fecha: Septiembre 2025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2451139A-2B63-37EC-12C9-37E93C041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341" y="1673"/>
            <a:ext cx="2605547" cy="26055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ntalla de computadora con un control en la mano&#10;&#10;El contenido generado por IA puede ser incorrecto.">
            <a:extLst>
              <a:ext uri="{FF2B5EF4-FFF2-40B4-BE49-F238E27FC236}">
                <a16:creationId xmlns:a16="http://schemas.microsoft.com/office/drawing/2014/main" id="{6579FBA8-CF5C-7BDF-B71F-D60836B134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9144000" cy="6854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33009"/>
            <a:ext cx="8229600" cy="1143000"/>
          </a:xfrm>
        </p:spPr>
        <p:txBody>
          <a:bodyPr/>
          <a:lstStyle/>
          <a:p>
            <a:r>
              <a:rPr lang="es-EC" noProof="0" dirty="0">
                <a:solidFill>
                  <a:schemeClr val="bg1"/>
                </a:solidFill>
              </a:rPr>
              <a:t>📘 </a:t>
            </a:r>
            <a:r>
              <a:rPr lang="es-EC" sz="5400" noProof="0" dirty="0">
                <a:solidFill>
                  <a:schemeClr val="bg1"/>
                </a:solidFill>
              </a:rPr>
              <a:t>Introducción</a:t>
            </a:r>
            <a:endParaRPr lang="es-EC" noProof="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8138" y="2381005"/>
            <a:ext cx="6578355" cy="3427325"/>
          </a:xfrm>
        </p:spPr>
        <p:txBody>
          <a:bodyPr>
            <a:normAutofit lnSpcReduction="10000"/>
          </a:bodyPr>
          <a:lstStyle/>
          <a:p>
            <a:endParaRPr lang="es-EC" noProof="0" dirty="0">
              <a:solidFill>
                <a:schemeClr val="bg1"/>
              </a:solidFill>
            </a:endParaRPr>
          </a:p>
          <a:p>
            <a:pPr marL="0" indent="0" algn="just">
              <a:buNone/>
              <a:defRPr sz="1800"/>
            </a:pPr>
            <a:r>
              <a:rPr lang="es-EC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La correcta identificación de etiquetas en redes de fibra óptica es vital para evitar errores y costos innecesarios. Este proyecto propone un modelo de IA que valida los colores de las etiquetas y un bot en campo que brinda retroalimentación inmediata, optimizando calidad y eficiencia.</a:t>
            </a:r>
            <a:endParaRPr lang="es-EC" noProof="0" dirty="0">
              <a:solidFill>
                <a:schemeClr val="bg1"/>
              </a:solidFill>
            </a:endParaRPr>
          </a:p>
          <a:p>
            <a:pPr>
              <a:defRPr sz="1800"/>
            </a:pPr>
            <a:endParaRPr lang="es-EC" dirty="0">
              <a:solidFill>
                <a:schemeClr val="bg1"/>
              </a:solidFill>
            </a:endParaRPr>
          </a:p>
          <a:p>
            <a:pPr>
              <a:defRPr sz="1800"/>
            </a:pPr>
            <a:r>
              <a:rPr lang="es-EC" noProof="0" dirty="0">
                <a:solidFill>
                  <a:schemeClr val="bg1"/>
                </a:solidFill>
              </a:rPr>
              <a:t>Desafío en campo: verificación manual de etiquetas de red.</a:t>
            </a:r>
          </a:p>
          <a:p>
            <a:pPr>
              <a:defRPr sz="1800"/>
            </a:pPr>
            <a:r>
              <a:rPr lang="es-EC" noProof="0" dirty="0">
                <a:solidFill>
                  <a:schemeClr val="bg1"/>
                </a:solidFill>
              </a:rPr>
              <a:t>Objetivo: automatizar la validación de colores en etiquetas físicas.</a:t>
            </a:r>
          </a:p>
          <a:p>
            <a:pPr>
              <a:defRPr sz="1800"/>
            </a:pPr>
            <a:r>
              <a:rPr lang="es-EC" noProof="0" dirty="0">
                <a:solidFill>
                  <a:schemeClr val="bg1"/>
                </a:solidFill>
              </a:rPr>
              <a:t>Apoyo con visión computacional y clasificación con IA.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A97A77E6-3B40-DC3B-BDF5-B6F95F33B1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341" y="1673"/>
            <a:ext cx="2605547" cy="26055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ntalla de computadora con un control en la mano&#10;&#10;El contenido generado por IA puede ser incorrecto.">
            <a:extLst>
              <a:ext uri="{FF2B5EF4-FFF2-40B4-BE49-F238E27FC236}">
                <a16:creationId xmlns:a16="http://schemas.microsoft.com/office/drawing/2014/main" id="{23CB9BBB-364F-4F45-5E5D-87CBAB1BEF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4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4854"/>
            <a:ext cx="8229600" cy="1143000"/>
          </a:xfrm>
        </p:spPr>
        <p:txBody>
          <a:bodyPr>
            <a:normAutofit/>
          </a:bodyPr>
          <a:lstStyle/>
          <a:p>
            <a:r>
              <a:rPr lang="es-EC" sz="6000" noProof="0" dirty="0">
                <a:solidFill>
                  <a:schemeClr val="bg1"/>
                </a:solidFill>
              </a:rPr>
              <a:t>🎯 Objetivos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1332" y="2328690"/>
            <a:ext cx="5927702" cy="3579741"/>
          </a:xfrm>
        </p:spPr>
        <p:txBody>
          <a:bodyPr/>
          <a:lstStyle/>
          <a:p>
            <a:endParaRPr lang="es-EC" noProof="0" dirty="0">
              <a:solidFill>
                <a:schemeClr val="bg1"/>
              </a:solidFill>
            </a:endParaRPr>
          </a:p>
          <a:p>
            <a:pPr marL="0" indent="0">
              <a:buNone/>
              <a:defRPr sz="1800"/>
            </a:pPr>
            <a:r>
              <a:rPr lang="es-EC" b="1" noProof="0" dirty="0">
                <a:solidFill>
                  <a:schemeClr val="bg1"/>
                </a:solidFill>
              </a:rPr>
              <a:t>Objetivo General: </a:t>
            </a:r>
          </a:p>
          <a:p>
            <a:pPr>
              <a:defRPr sz="1800"/>
            </a:pPr>
            <a:r>
              <a:rPr lang="es-EC" noProof="0" dirty="0">
                <a:solidFill>
                  <a:schemeClr val="bg1"/>
                </a:solidFill>
              </a:rPr>
              <a:t>Automatizar la validación de etiquetas con IA.</a:t>
            </a:r>
          </a:p>
          <a:p>
            <a:pPr marL="0" indent="0">
              <a:buNone/>
              <a:defRPr sz="1800"/>
            </a:pPr>
            <a:endParaRPr lang="es-EC" dirty="0">
              <a:solidFill>
                <a:schemeClr val="bg1"/>
              </a:solidFill>
            </a:endParaRPr>
          </a:p>
          <a:p>
            <a:pPr marL="0" indent="0">
              <a:buNone/>
              <a:defRPr sz="1800"/>
            </a:pPr>
            <a:r>
              <a:rPr lang="es-EC" b="1" noProof="0" dirty="0">
                <a:solidFill>
                  <a:schemeClr val="bg1"/>
                </a:solidFill>
              </a:rPr>
              <a:t>Específicos:</a:t>
            </a:r>
          </a:p>
          <a:p>
            <a:pPr>
              <a:defRPr sz="1800"/>
            </a:pPr>
            <a:r>
              <a:rPr lang="es-EC" noProof="0" dirty="0">
                <a:solidFill>
                  <a:schemeClr val="bg1"/>
                </a:solidFill>
              </a:rPr>
              <a:t>Construir un pipeline completo de preprocesamiento.</a:t>
            </a:r>
          </a:p>
          <a:p>
            <a:pPr>
              <a:defRPr sz="1800"/>
            </a:pPr>
            <a:r>
              <a:rPr lang="es-EC" noProof="0" dirty="0">
                <a:solidFill>
                  <a:schemeClr val="bg1"/>
                </a:solidFill>
              </a:rPr>
              <a:t>Balancear y preparar los datos para modelado.</a:t>
            </a:r>
          </a:p>
          <a:p>
            <a:pPr>
              <a:defRPr sz="1800"/>
            </a:pPr>
            <a:r>
              <a:rPr lang="es-EC" noProof="0" dirty="0">
                <a:solidFill>
                  <a:schemeClr val="bg1"/>
                </a:solidFill>
              </a:rPr>
              <a:t>Evaluar aplicabilidad para un bot en campo.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2909D965-89CD-E4B7-C518-A12E51B8BB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341" y="1673"/>
            <a:ext cx="2605547" cy="26055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ntalla de computadora con un control en la mano&#10;&#10;El contenido generado por IA puede ser incorrecto.">
            <a:extLst>
              <a:ext uri="{FF2B5EF4-FFF2-40B4-BE49-F238E27FC236}">
                <a16:creationId xmlns:a16="http://schemas.microsoft.com/office/drawing/2014/main" id="{0FE47FE7-F648-7F82-9C79-69723628F1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9144000" cy="6854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5432" y="933722"/>
            <a:ext cx="7737231" cy="1143000"/>
          </a:xfrm>
        </p:spPr>
        <p:txBody>
          <a:bodyPr/>
          <a:lstStyle/>
          <a:p>
            <a:r>
              <a:rPr lang="es-EC" noProof="0" dirty="0">
                <a:solidFill>
                  <a:schemeClr val="bg1"/>
                </a:solidFill>
              </a:rPr>
              <a:t>📑 Descripción del </a:t>
            </a:r>
            <a:r>
              <a:rPr lang="es-EC" noProof="0" dirty="0" err="1">
                <a:solidFill>
                  <a:schemeClr val="bg1"/>
                </a:solidFill>
              </a:rPr>
              <a:t>Dataset</a:t>
            </a:r>
            <a:endParaRPr lang="es-EC" noProof="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3764" y="2255469"/>
            <a:ext cx="6547528" cy="2525810"/>
          </a:xfrm>
        </p:spPr>
        <p:txBody>
          <a:bodyPr/>
          <a:lstStyle/>
          <a:p>
            <a:endParaRPr lang="es-EC" noProof="0" dirty="0">
              <a:solidFill>
                <a:schemeClr val="bg1"/>
              </a:solidFill>
            </a:endParaRPr>
          </a:p>
          <a:p>
            <a:pPr>
              <a:defRPr sz="1800"/>
            </a:pPr>
            <a:r>
              <a:rPr lang="es-EC" sz="2000" noProof="0" dirty="0">
                <a:solidFill>
                  <a:schemeClr val="bg1"/>
                </a:solidFill>
              </a:rPr>
              <a:t>Más de 1000 registros de etiquetas en cajas MPLS.</a:t>
            </a:r>
          </a:p>
          <a:p>
            <a:pPr>
              <a:defRPr sz="1800"/>
            </a:pPr>
            <a:r>
              <a:rPr lang="es-EC" sz="2000" noProof="0" dirty="0">
                <a:solidFill>
                  <a:schemeClr val="bg1"/>
                </a:solidFill>
              </a:rPr>
              <a:t>Variables categóricas: ciudad, nodos, ruta, </a:t>
            </a:r>
            <a:r>
              <a:rPr lang="es-EC" sz="2000" noProof="0" dirty="0" err="1">
                <a:solidFill>
                  <a:schemeClr val="bg1"/>
                </a:solidFill>
              </a:rPr>
              <a:t>color_buffer</a:t>
            </a:r>
            <a:r>
              <a:rPr lang="es-EC" sz="2000" noProof="0" dirty="0">
                <a:solidFill>
                  <a:schemeClr val="bg1"/>
                </a:solidFill>
              </a:rPr>
              <a:t>.</a:t>
            </a:r>
          </a:p>
          <a:p>
            <a:pPr>
              <a:defRPr sz="1800"/>
            </a:pPr>
            <a:r>
              <a:rPr lang="es-EC" sz="2000" noProof="0" dirty="0">
                <a:solidFill>
                  <a:schemeClr val="bg1"/>
                </a:solidFill>
              </a:rPr>
              <a:t>Variable objetivo: </a:t>
            </a:r>
            <a:r>
              <a:rPr lang="es-EC" sz="2000" noProof="0" dirty="0" err="1">
                <a:solidFill>
                  <a:schemeClr val="bg1"/>
                </a:solidFill>
              </a:rPr>
              <a:t>color_buffer</a:t>
            </a:r>
            <a:r>
              <a:rPr lang="es-EC" sz="2000" noProof="0" dirty="0">
                <a:solidFill>
                  <a:schemeClr val="bg1"/>
                </a:solidFill>
              </a:rPr>
              <a:t> (12 colores).</a:t>
            </a:r>
          </a:p>
          <a:p>
            <a:pPr>
              <a:defRPr sz="1800"/>
            </a:pPr>
            <a:r>
              <a:rPr lang="es-EC" sz="2000" noProof="0" dirty="0">
                <a:solidFill>
                  <a:schemeClr val="bg1"/>
                </a:solidFill>
              </a:rPr>
              <a:t>Cada color representa un tipo de conexión de red.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5F25147D-756A-215A-3BDE-9B3DCEA7D8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341" y="1673"/>
            <a:ext cx="2605547" cy="26055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ntalla de computadora con un control en la mano&#10;&#10;El contenido generado por IA puede ser incorrecto.">
            <a:extLst>
              <a:ext uri="{FF2B5EF4-FFF2-40B4-BE49-F238E27FC236}">
                <a16:creationId xmlns:a16="http://schemas.microsoft.com/office/drawing/2014/main" id="{2CDF99D7-C3C2-CE14-5871-FB4EB0CC5C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9144000" cy="6854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715" y="968828"/>
            <a:ext cx="6513870" cy="1143000"/>
          </a:xfrm>
        </p:spPr>
        <p:txBody>
          <a:bodyPr>
            <a:normAutofit fontScale="90000"/>
          </a:bodyPr>
          <a:lstStyle/>
          <a:p>
            <a:r>
              <a:rPr lang="es-EC" noProof="0" dirty="0">
                <a:solidFill>
                  <a:schemeClr val="bg1"/>
                </a:solidFill>
              </a:rPr>
              <a:t>🎯 Variable Objetivo: </a:t>
            </a:r>
            <a:r>
              <a:rPr lang="es-EC" noProof="0" dirty="0" err="1">
                <a:solidFill>
                  <a:schemeClr val="bg1"/>
                </a:solidFill>
              </a:rPr>
              <a:t>color_buffer</a:t>
            </a:r>
            <a:endParaRPr lang="es-EC" noProof="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5547" y="2327031"/>
            <a:ext cx="5991038" cy="3171092"/>
          </a:xfrm>
        </p:spPr>
        <p:txBody>
          <a:bodyPr/>
          <a:lstStyle/>
          <a:p>
            <a:endParaRPr lang="es-EC" noProof="0" dirty="0">
              <a:solidFill>
                <a:schemeClr val="bg1"/>
              </a:solidFill>
            </a:endParaRPr>
          </a:p>
          <a:p>
            <a:pPr algn="just">
              <a:defRPr sz="1800"/>
            </a:pPr>
            <a:r>
              <a:rPr lang="es-EC" sz="2000" noProof="0" dirty="0">
                <a:solidFill>
                  <a:schemeClr val="bg1"/>
                </a:solidFill>
              </a:rPr>
              <a:t>Multiclase: Rojo, Azul, Verde, etc.</a:t>
            </a:r>
          </a:p>
          <a:p>
            <a:pPr algn="just">
              <a:defRPr sz="1800"/>
            </a:pPr>
            <a:r>
              <a:rPr lang="es-EC" sz="2000" noProof="0" dirty="0">
                <a:solidFill>
                  <a:schemeClr val="bg1"/>
                </a:solidFill>
              </a:rPr>
              <a:t>Doce categorías codificadas (ROJ, VER, AZU, etc.).</a:t>
            </a:r>
          </a:p>
          <a:p>
            <a:pPr algn="just">
              <a:defRPr sz="1800"/>
            </a:pPr>
            <a:r>
              <a:rPr lang="es-EC" sz="2000" noProof="0" dirty="0">
                <a:solidFill>
                  <a:schemeClr val="bg1"/>
                </a:solidFill>
              </a:rPr>
              <a:t>Etiquetas visibles físicamente en cajas.</a:t>
            </a:r>
          </a:p>
          <a:p>
            <a:pPr algn="just">
              <a:defRPr sz="1800"/>
            </a:pPr>
            <a:r>
              <a:rPr lang="es-EC" sz="2000" noProof="0" dirty="0">
                <a:solidFill>
                  <a:schemeClr val="bg1"/>
                </a:solidFill>
              </a:rPr>
              <a:t>Se usará visión computacional para identificar colores reales.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82B62E92-D0EE-1A0E-F547-AD6206708E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341" y="1673"/>
            <a:ext cx="2605547" cy="26055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ntalla de computadora con un control en la mano&#10;&#10;El contenido generado por IA puede ser incorrecto.">
            <a:extLst>
              <a:ext uri="{FF2B5EF4-FFF2-40B4-BE49-F238E27FC236}">
                <a16:creationId xmlns:a16="http://schemas.microsoft.com/office/drawing/2014/main" id="{59949E25-62F9-D0B0-6BFB-30701DF8E5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9144000" cy="6854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5432" y="1003444"/>
            <a:ext cx="8229600" cy="1143000"/>
          </a:xfrm>
        </p:spPr>
        <p:txBody>
          <a:bodyPr/>
          <a:lstStyle/>
          <a:p>
            <a:r>
              <a:rPr lang="es-EC" noProof="0" dirty="0">
                <a:solidFill>
                  <a:schemeClr val="bg1"/>
                </a:solidFill>
              </a:rPr>
              <a:t>📊 Fase 1: EDA –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5547" y="2146444"/>
            <a:ext cx="5569596" cy="2920512"/>
          </a:xfrm>
        </p:spPr>
        <p:txBody>
          <a:bodyPr/>
          <a:lstStyle/>
          <a:p>
            <a:endParaRPr lang="es-EC" noProof="0" dirty="0">
              <a:solidFill>
                <a:schemeClr val="bg1"/>
              </a:solidFill>
            </a:endParaRPr>
          </a:p>
          <a:p>
            <a:pPr>
              <a:defRPr sz="1800"/>
            </a:pPr>
            <a:r>
              <a:rPr lang="es-EC" noProof="0" dirty="0">
                <a:solidFill>
                  <a:schemeClr val="bg1"/>
                </a:solidFill>
              </a:rPr>
              <a:t>Inspección de </a:t>
            </a:r>
            <a:r>
              <a:rPr lang="es-EC" noProof="0" dirty="0" err="1">
                <a:solidFill>
                  <a:schemeClr val="bg1"/>
                </a:solidFill>
              </a:rPr>
              <a:t>shape</a:t>
            </a:r>
            <a:r>
              <a:rPr lang="es-EC" noProof="0" dirty="0">
                <a:solidFill>
                  <a:schemeClr val="bg1"/>
                </a:solidFill>
              </a:rPr>
              <a:t>, tipos de datos, memoria.</a:t>
            </a:r>
          </a:p>
          <a:p>
            <a:pPr>
              <a:defRPr sz="1800"/>
            </a:pPr>
            <a:r>
              <a:rPr lang="es-EC" noProof="0" dirty="0">
                <a:solidFill>
                  <a:schemeClr val="bg1"/>
                </a:solidFill>
              </a:rPr>
              <a:t>Distribución de </a:t>
            </a:r>
            <a:r>
              <a:rPr lang="es-EC" noProof="0" dirty="0" err="1">
                <a:solidFill>
                  <a:schemeClr val="bg1"/>
                </a:solidFill>
              </a:rPr>
              <a:t>color_buffer</a:t>
            </a:r>
            <a:r>
              <a:rPr lang="es-EC" noProof="0" dirty="0">
                <a:solidFill>
                  <a:schemeClr val="bg1"/>
                </a:solidFill>
              </a:rPr>
              <a:t> en conteo.</a:t>
            </a:r>
          </a:p>
          <a:p>
            <a:pPr>
              <a:defRPr sz="1800"/>
            </a:pPr>
            <a:r>
              <a:rPr lang="es-EC" noProof="0" dirty="0">
                <a:solidFill>
                  <a:schemeClr val="bg1"/>
                </a:solidFill>
              </a:rPr>
              <a:t>Identificación de variables numéricas y categóricas.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832D2749-E708-8637-F982-059C5D848D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341" y="1673"/>
            <a:ext cx="2605547" cy="26055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ntalla de computadora con un control en la mano&#10;&#10;El contenido generado por IA puede ser incorrecto.">
            <a:extLst>
              <a:ext uri="{FF2B5EF4-FFF2-40B4-BE49-F238E27FC236}">
                <a16:creationId xmlns:a16="http://schemas.microsoft.com/office/drawing/2014/main" id="{E79CD01A-4740-3A6B-4DDE-297376F350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9144000" cy="6854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4232" y="1304446"/>
            <a:ext cx="6182599" cy="1143000"/>
          </a:xfrm>
        </p:spPr>
        <p:txBody>
          <a:bodyPr>
            <a:normAutofit fontScale="90000"/>
          </a:bodyPr>
          <a:lstStyle/>
          <a:p>
            <a:r>
              <a:rPr lang="es-EC" noProof="0" dirty="0">
                <a:solidFill>
                  <a:schemeClr val="bg1"/>
                </a:solidFill>
              </a:rPr>
              <a:t>📊 Fase 1: EDA – </a:t>
            </a:r>
            <a:r>
              <a:rPr lang="es-EC" noProof="0" dirty="0" err="1">
                <a:solidFill>
                  <a:schemeClr val="bg1"/>
                </a:solidFill>
              </a:rPr>
              <a:t>Outliers</a:t>
            </a:r>
            <a:r>
              <a:rPr lang="es-EC" noProof="0" dirty="0">
                <a:solidFill>
                  <a:schemeClr val="bg1"/>
                </a:solidFill>
              </a:rPr>
              <a:t>/Duplicados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5547" y="2607220"/>
            <a:ext cx="5857756" cy="2806543"/>
          </a:xfrm>
        </p:spPr>
        <p:txBody>
          <a:bodyPr/>
          <a:lstStyle/>
          <a:p>
            <a:endParaRPr lang="es-EC" noProof="0" dirty="0">
              <a:solidFill>
                <a:schemeClr val="bg1"/>
              </a:solidFill>
            </a:endParaRPr>
          </a:p>
          <a:p>
            <a:pPr>
              <a:defRPr sz="1800"/>
            </a:pPr>
            <a:r>
              <a:rPr lang="es-EC" sz="2000" noProof="0" dirty="0">
                <a:solidFill>
                  <a:schemeClr val="bg1"/>
                </a:solidFill>
              </a:rPr>
              <a:t>Análisis con IQR y Z-score.</a:t>
            </a:r>
          </a:p>
          <a:p>
            <a:pPr>
              <a:defRPr sz="1800"/>
            </a:pPr>
            <a:r>
              <a:rPr lang="es-EC" sz="2000" noProof="0" dirty="0">
                <a:solidFill>
                  <a:schemeClr val="bg1"/>
                </a:solidFill>
              </a:rPr>
              <a:t>Visualización con </a:t>
            </a:r>
            <a:r>
              <a:rPr lang="es-EC" sz="2000" noProof="0" dirty="0" err="1">
                <a:solidFill>
                  <a:schemeClr val="bg1"/>
                </a:solidFill>
              </a:rPr>
              <a:t>boxplots</a:t>
            </a:r>
            <a:r>
              <a:rPr lang="es-EC" sz="2000" noProof="0" dirty="0">
                <a:solidFill>
                  <a:schemeClr val="bg1"/>
                </a:solidFill>
              </a:rPr>
              <a:t> y </a:t>
            </a:r>
            <a:r>
              <a:rPr lang="es-EC" sz="2000" noProof="0" dirty="0" err="1">
                <a:solidFill>
                  <a:schemeClr val="bg1"/>
                </a:solidFill>
              </a:rPr>
              <a:t>scatter</a:t>
            </a:r>
            <a:r>
              <a:rPr lang="es-EC" sz="2000" noProof="0" dirty="0">
                <a:solidFill>
                  <a:schemeClr val="bg1"/>
                </a:solidFill>
              </a:rPr>
              <a:t>.</a:t>
            </a:r>
          </a:p>
          <a:p>
            <a:pPr>
              <a:defRPr sz="1800"/>
            </a:pPr>
            <a:r>
              <a:rPr lang="es-EC" sz="2000" noProof="0" dirty="0">
                <a:solidFill>
                  <a:schemeClr val="bg1"/>
                </a:solidFill>
              </a:rPr>
              <a:t>Detección de duplicados exactos y </a:t>
            </a:r>
            <a:r>
              <a:rPr lang="es-EC" sz="2000" noProof="0" dirty="0" err="1">
                <a:solidFill>
                  <a:schemeClr val="bg1"/>
                </a:solidFill>
              </a:rPr>
              <a:t>near-duplicates</a:t>
            </a:r>
            <a:r>
              <a:rPr lang="es-EC" sz="2000" noProof="0" dirty="0">
                <a:solidFill>
                  <a:schemeClr val="bg1"/>
                </a:solidFill>
              </a:rPr>
              <a:t>.</a:t>
            </a:r>
          </a:p>
          <a:p>
            <a:pPr>
              <a:defRPr sz="1800"/>
            </a:pPr>
            <a:r>
              <a:rPr lang="es-EC" sz="2000" noProof="0" dirty="0">
                <a:solidFill>
                  <a:schemeClr val="bg1"/>
                </a:solidFill>
              </a:rPr>
              <a:t>Propuesta de resolución: eliminación o consolidación.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24F79D25-E048-86AF-4AC1-F80AD5051E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341" y="1673"/>
            <a:ext cx="2605547" cy="26055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ntalla de computadora con un control en la mano&#10;&#10;El contenido generado por IA puede ser incorrecto.">
            <a:extLst>
              <a:ext uri="{FF2B5EF4-FFF2-40B4-BE49-F238E27FC236}">
                <a16:creationId xmlns:a16="http://schemas.microsoft.com/office/drawing/2014/main" id="{F4FCEBF4-E450-C3B9-0F71-10CB80D981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9144000" cy="6854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846" y="957053"/>
            <a:ext cx="7268308" cy="1143000"/>
          </a:xfrm>
        </p:spPr>
        <p:txBody>
          <a:bodyPr/>
          <a:lstStyle/>
          <a:p>
            <a:r>
              <a:rPr lang="es-EC" noProof="0" dirty="0">
                <a:solidFill>
                  <a:schemeClr val="bg1"/>
                </a:solidFill>
              </a:rPr>
              <a:t>🧼 Fase 2: Limpieza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4210" y="2268363"/>
            <a:ext cx="7064282" cy="2923053"/>
          </a:xfrm>
        </p:spPr>
        <p:txBody>
          <a:bodyPr/>
          <a:lstStyle/>
          <a:p>
            <a:endParaRPr lang="es-EC" noProof="0" dirty="0">
              <a:solidFill>
                <a:schemeClr val="bg1"/>
              </a:solidFill>
            </a:endParaRPr>
          </a:p>
          <a:p>
            <a:pPr>
              <a:defRPr sz="1800"/>
            </a:pPr>
            <a:r>
              <a:rPr lang="es-EC" noProof="0" dirty="0">
                <a:solidFill>
                  <a:schemeClr val="bg1"/>
                </a:solidFill>
              </a:rPr>
              <a:t>Tratamiento de valores nulos con imputación (mediana/más frecuente).</a:t>
            </a:r>
          </a:p>
          <a:p>
            <a:pPr>
              <a:defRPr sz="1800"/>
            </a:pPr>
            <a:r>
              <a:rPr lang="es-EC" noProof="0" dirty="0">
                <a:solidFill>
                  <a:schemeClr val="bg1"/>
                </a:solidFill>
              </a:rPr>
              <a:t>Eliminación de duplicados exactos.</a:t>
            </a:r>
          </a:p>
          <a:p>
            <a:pPr>
              <a:defRPr sz="1800"/>
            </a:pPr>
            <a:r>
              <a:rPr lang="es-EC" noProof="0" dirty="0">
                <a:solidFill>
                  <a:schemeClr val="bg1"/>
                </a:solidFill>
              </a:rPr>
              <a:t>Estandarización de textos en columnas categóricas.</a:t>
            </a:r>
          </a:p>
          <a:p>
            <a:pPr>
              <a:defRPr sz="1800"/>
            </a:pPr>
            <a:r>
              <a:rPr lang="es-EC" noProof="0" dirty="0">
                <a:solidFill>
                  <a:schemeClr val="bg1"/>
                </a:solidFill>
              </a:rPr>
              <a:t>Conversión de tipos de datos consistentes.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E319AE5F-E130-A050-717E-3383C529E9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341" y="1673"/>
            <a:ext cx="2605547" cy="26055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ntalla de computadora con un control en la mano&#10;&#10;El contenido generado por IA puede ser incorrecto.">
            <a:extLst>
              <a:ext uri="{FF2B5EF4-FFF2-40B4-BE49-F238E27FC236}">
                <a16:creationId xmlns:a16="http://schemas.microsoft.com/office/drawing/2014/main" id="{607A2563-61E5-1DCA-5D99-1302A50173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9144000" cy="6854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2442" y="966753"/>
            <a:ext cx="6633004" cy="1143000"/>
          </a:xfrm>
        </p:spPr>
        <p:txBody>
          <a:bodyPr>
            <a:normAutofit fontScale="90000"/>
          </a:bodyPr>
          <a:lstStyle/>
          <a:p>
            <a:r>
              <a:rPr lang="es-EC" noProof="0" dirty="0">
                <a:solidFill>
                  <a:schemeClr val="bg1"/>
                </a:solidFill>
              </a:rPr>
              <a:t>🛠️ Fase 3: </a:t>
            </a:r>
            <a:r>
              <a:rPr lang="es-EC" noProof="0" dirty="0" err="1">
                <a:solidFill>
                  <a:schemeClr val="bg1"/>
                </a:solidFill>
              </a:rPr>
              <a:t>Feature</a:t>
            </a:r>
            <a:r>
              <a:rPr lang="es-EC" noProof="0" dirty="0">
                <a:solidFill>
                  <a:schemeClr val="bg1"/>
                </a:solidFill>
              </a:rPr>
              <a:t> </a:t>
            </a:r>
            <a:r>
              <a:rPr lang="es-EC" noProof="0" dirty="0" err="1">
                <a:solidFill>
                  <a:schemeClr val="bg1"/>
                </a:solidFill>
              </a:rPr>
              <a:t>Engineering</a:t>
            </a:r>
            <a:endParaRPr lang="es-EC" noProof="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3216" y="2607220"/>
            <a:ext cx="4897220" cy="2688744"/>
          </a:xfrm>
        </p:spPr>
        <p:txBody>
          <a:bodyPr/>
          <a:lstStyle/>
          <a:p>
            <a:endParaRPr lang="es-EC" noProof="0" dirty="0">
              <a:solidFill>
                <a:schemeClr val="bg1"/>
              </a:solidFill>
            </a:endParaRPr>
          </a:p>
          <a:p>
            <a:pPr>
              <a:defRPr sz="1800"/>
            </a:pPr>
            <a:r>
              <a:rPr lang="es-EC" sz="2000" noProof="0" dirty="0">
                <a:solidFill>
                  <a:schemeClr val="bg1"/>
                </a:solidFill>
              </a:rPr>
              <a:t>Variables derivadas:</a:t>
            </a:r>
          </a:p>
          <a:p>
            <a:pPr>
              <a:defRPr sz="1800"/>
            </a:pPr>
            <a:r>
              <a:rPr lang="es-EC" sz="2000" noProof="0" dirty="0">
                <a:solidFill>
                  <a:schemeClr val="bg1"/>
                </a:solidFill>
              </a:rPr>
              <a:t>Frecuencia de ciudad</a:t>
            </a:r>
          </a:p>
          <a:p>
            <a:pPr>
              <a:defRPr sz="1800"/>
            </a:pPr>
            <a:r>
              <a:rPr lang="es-EC" sz="2000" noProof="0" dirty="0">
                <a:solidFill>
                  <a:schemeClr val="bg1"/>
                </a:solidFill>
              </a:rPr>
              <a:t>Longitud del código de caja</a:t>
            </a:r>
          </a:p>
          <a:p>
            <a:pPr>
              <a:defRPr sz="1800"/>
            </a:pPr>
            <a:r>
              <a:rPr lang="es-EC" sz="2000" noProof="0" dirty="0">
                <a:solidFill>
                  <a:schemeClr val="bg1"/>
                </a:solidFill>
              </a:rPr>
              <a:t>Relación entre variables categóricas.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358E92C0-6B1A-81F1-AD9A-2F4B09417F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341" y="1673"/>
            <a:ext cx="2605547" cy="260554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ntalla de computadora con un control en la mano&#10;&#10;El contenido generado por IA puede ser incorrecto.">
            <a:extLst>
              <a:ext uri="{FF2B5EF4-FFF2-40B4-BE49-F238E27FC236}">
                <a16:creationId xmlns:a16="http://schemas.microsoft.com/office/drawing/2014/main" id="{DF11D5EB-DDD3-52A6-F6FA-A79460B2A1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9144000" cy="6854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73741" y="2166087"/>
            <a:ext cx="4845973" cy="1143000"/>
          </a:xfrm>
        </p:spPr>
        <p:txBody>
          <a:bodyPr>
            <a:normAutofit fontScale="90000"/>
          </a:bodyPr>
          <a:lstStyle/>
          <a:p>
            <a:r>
              <a:rPr lang="es-EC" noProof="0" dirty="0">
                <a:solidFill>
                  <a:schemeClr val="bg1"/>
                </a:solidFill>
              </a:rPr>
              <a:t>🧩 </a:t>
            </a:r>
            <a:r>
              <a:rPr lang="es-EC" noProof="0" dirty="0" err="1">
                <a:solidFill>
                  <a:schemeClr val="bg1"/>
                </a:solidFill>
              </a:rPr>
              <a:t>Encoding</a:t>
            </a:r>
            <a:r>
              <a:rPr lang="es-EC" noProof="0" dirty="0">
                <a:solidFill>
                  <a:schemeClr val="bg1"/>
                </a:solidFill>
              </a:rPr>
              <a:t> Categórico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09" y="4041700"/>
            <a:ext cx="4050891" cy="1510513"/>
          </a:xfrm>
        </p:spPr>
        <p:txBody>
          <a:bodyPr>
            <a:normAutofit fontScale="85000" lnSpcReduction="10000"/>
          </a:bodyPr>
          <a:lstStyle/>
          <a:p>
            <a:pPr>
              <a:defRPr sz="1800"/>
            </a:pPr>
            <a:r>
              <a:rPr lang="es-EC" sz="2000" noProof="0" dirty="0">
                <a:solidFill>
                  <a:schemeClr val="bg1"/>
                </a:solidFill>
              </a:rPr>
              <a:t>Label Encoding aplicado a variables base.</a:t>
            </a:r>
          </a:p>
          <a:p>
            <a:pPr>
              <a:defRPr sz="1800"/>
            </a:pPr>
            <a:r>
              <a:rPr lang="es-EC" sz="2000" noProof="0" dirty="0" err="1">
                <a:solidFill>
                  <a:schemeClr val="bg1"/>
                </a:solidFill>
              </a:rPr>
              <a:t>One</a:t>
            </a:r>
            <a:r>
              <a:rPr lang="es-EC" sz="2000" noProof="0" dirty="0">
                <a:solidFill>
                  <a:schemeClr val="bg1"/>
                </a:solidFill>
              </a:rPr>
              <a:t>-Hot </a:t>
            </a:r>
            <a:r>
              <a:rPr lang="es-EC" sz="2000" noProof="0" dirty="0" err="1">
                <a:solidFill>
                  <a:schemeClr val="bg1"/>
                </a:solidFill>
              </a:rPr>
              <a:t>Encoding</a:t>
            </a:r>
            <a:r>
              <a:rPr lang="es-EC" sz="2000" noProof="0" dirty="0">
                <a:solidFill>
                  <a:schemeClr val="bg1"/>
                </a:solidFill>
              </a:rPr>
              <a:t> para modelos lineales.</a:t>
            </a:r>
          </a:p>
          <a:p>
            <a:pPr>
              <a:defRPr sz="1800"/>
            </a:pPr>
            <a:r>
              <a:rPr lang="es-EC" sz="2000" noProof="0" dirty="0">
                <a:solidFill>
                  <a:schemeClr val="bg1"/>
                </a:solidFill>
              </a:rPr>
              <a:t>Preparación para integrarse en Pipeline.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EFB4B704-D2C4-2CAF-7FCE-B2B44B5A0F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6282" y="-77888"/>
            <a:ext cx="2605547" cy="260554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4B3F0B6-ECD5-FDEB-BCCE-9F58D4E5C481}"/>
              </a:ext>
            </a:extLst>
          </p:cNvPr>
          <p:cNvSpPr txBox="1">
            <a:spLocks/>
          </p:cNvSpPr>
          <p:nvPr/>
        </p:nvSpPr>
        <p:spPr>
          <a:xfrm>
            <a:off x="4429056" y="2450699"/>
            <a:ext cx="4079239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C" dirty="0">
                <a:solidFill>
                  <a:schemeClr val="bg1"/>
                </a:solidFill>
              </a:rPr>
              <a:t>📐 Escalado Numérico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B9861A3-E659-0BF7-C02B-638093D3EEFB}"/>
              </a:ext>
            </a:extLst>
          </p:cNvPr>
          <p:cNvSpPr txBox="1">
            <a:spLocks/>
          </p:cNvSpPr>
          <p:nvPr/>
        </p:nvSpPr>
        <p:spPr>
          <a:xfrm>
            <a:off x="3972232" y="3935854"/>
            <a:ext cx="4992889" cy="151227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 sz="1800"/>
            </a:pPr>
            <a:r>
              <a:rPr lang="es-EC" sz="2000" dirty="0">
                <a:solidFill>
                  <a:schemeClr val="bg1"/>
                </a:solidFill>
              </a:rPr>
              <a:t>StandardScaler aplicado a variables numéricas.</a:t>
            </a:r>
          </a:p>
          <a:p>
            <a:pPr algn="just">
              <a:defRPr sz="1800"/>
            </a:pPr>
            <a:r>
              <a:rPr lang="es-EC" sz="2000" dirty="0">
                <a:solidFill>
                  <a:schemeClr val="bg1"/>
                </a:solidFill>
              </a:rPr>
              <a:t>Preparación para clustering y modelos de distancia.</a:t>
            </a:r>
          </a:p>
          <a:p>
            <a:pPr algn="just">
              <a:defRPr sz="1800"/>
            </a:pPr>
            <a:r>
              <a:rPr lang="es-EC" sz="2000" dirty="0">
                <a:solidFill>
                  <a:schemeClr val="bg1"/>
                </a:solidFill>
              </a:rPr>
              <a:t>Estandarización como parte del ColumnTransformer.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ntalla de computadora con un control en la mano&#10;&#10;El contenido generado por IA puede ser incorrecto.">
            <a:extLst>
              <a:ext uri="{FF2B5EF4-FFF2-40B4-BE49-F238E27FC236}">
                <a16:creationId xmlns:a16="http://schemas.microsoft.com/office/drawing/2014/main" id="{4E2E0AA4-C3B9-C0F9-3E80-9A40EC617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341" y="0"/>
            <a:ext cx="9231341" cy="7197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39844" y="2147685"/>
            <a:ext cx="4880670" cy="1454423"/>
          </a:xfrm>
        </p:spPr>
        <p:txBody>
          <a:bodyPr/>
          <a:lstStyle/>
          <a:p>
            <a:r>
              <a:rPr lang="es-EC" noProof="0" dirty="0">
                <a:solidFill>
                  <a:schemeClr val="bg1"/>
                </a:solidFill>
              </a:rPr>
              <a:t>Fase 4: Balanceamiento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1598" y="3996714"/>
            <a:ext cx="4375370" cy="1990178"/>
          </a:xfrm>
        </p:spPr>
        <p:txBody>
          <a:bodyPr>
            <a:normAutofit fontScale="92500" lnSpcReduction="20000"/>
          </a:bodyPr>
          <a:lstStyle/>
          <a:p>
            <a:pPr>
              <a:defRPr sz="1800"/>
            </a:pPr>
            <a:r>
              <a:rPr lang="es-EC" noProof="0" dirty="0">
                <a:solidFill>
                  <a:schemeClr val="bg1"/>
                </a:solidFill>
              </a:rPr>
              <a:t>Uso de SMOTE (Synthetic Minority Oversampling Technique).</a:t>
            </a:r>
          </a:p>
          <a:p>
            <a:pPr>
              <a:defRPr sz="1800"/>
            </a:pPr>
            <a:r>
              <a:rPr lang="es-EC" noProof="0" dirty="0">
                <a:solidFill>
                  <a:schemeClr val="bg1"/>
                </a:solidFill>
              </a:rPr>
              <a:t>Se generaron instancias sintéticas de clases minoritarias.</a:t>
            </a:r>
          </a:p>
          <a:p>
            <a:pPr>
              <a:defRPr sz="1800"/>
            </a:pPr>
            <a:r>
              <a:rPr lang="es-EC" noProof="0" dirty="0">
                <a:solidFill>
                  <a:schemeClr val="bg1"/>
                </a:solidFill>
              </a:rPr>
              <a:t>Validación de la distribución antes y después.</a:t>
            </a:r>
          </a:p>
          <a:p>
            <a:pPr>
              <a:defRPr sz="1800"/>
            </a:pPr>
            <a:r>
              <a:rPr lang="es-EC" noProof="0" dirty="0">
                <a:solidFill>
                  <a:schemeClr val="bg1"/>
                </a:solidFill>
              </a:rPr>
              <a:t>Impacto positivo en el entrenamiento justo del modelo.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F9A0E081-3707-1053-D72C-11805270B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5555" y="-134760"/>
            <a:ext cx="2605547" cy="260554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16E899E-D37B-556E-154B-1F974225A8B3}"/>
              </a:ext>
            </a:extLst>
          </p:cNvPr>
          <p:cNvSpPr txBox="1">
            <a:spLocks/>
          </p:cNvSpPr>
          <p:nvPr/>
        </p:nvSpPr>
        <p:spPr>
          <a:xfrm>
            <a:off x="4611295" y="2336027"/>
            <a:ext cx="451835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C" dirty="0">
                <a:solidFill>
                  <a:schemeClr val="bg1"/>
                </a:solidFill>
              </a:rPr>
              <a:t>🧬 Fase 5: </a:t>
            </a:r>
          </a:p>
          <a:p>
            <a:r>
              <a:rPr lang="es-EC" dirty="0">
                <a:solidFill>
                  <a:schemeClr val="bg1"/>
                </a:solidFill>
              </a:rPr>
              <a:t>Data Augmentation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0735137-84E4-06AE-12E0-64B286F06DCA}"/>
              </a:ext>
            </a:extLst>
          </p:cNvPr>
          <p:cNvSpPr txBox="1">
            <a:spLocks/>
          </p:cNvSpPr>
          <p:nvPr/>
        </p:nvSpPr>
        <p:spPr>
          <a:xfrm>
            <a:off x="5073376" y="3783256"/>
            <a:ext cx="3913308" cy="1859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/>
            </a:pPr>
            <a:r>
              <a:rPr lang="es-EC" sz="1800" dirty="0">
                <a:solidFill>
                  <a:schemeClr val="bg1"/>
                </a:solidFill>
              </a:rPr>
              <a:t>Inyección de ruido gaussiano en variables numéricas.</a:t>
            </a:r>
          </a:p>
          <a:p>
            <a:pPr>
              <a:defRPr sz="1800"/>
            </a:pPr>
            <a:r>
              <a:rPr lang="es-EC" sz="1800" dirty="0">
                <a:solidFill>
                  <a:schemeClr val="bg1"/>
                </a:solidFill>
              </a:rPr>
              <a:t>Técnicas inspiradas en Mixup para robustez.</a:t>
            </a:r>
          </a:p>
          <a:p>
            <a:pPr>
              <a:defRPr sz="1800"/>
            </a:pPr>
            <a:r>
              <a:rPr lang="es-EC" sz="1800" dirty="0">
                <a:solidFill>
                  <a:schemeClr val="bg1"/>
                </a:solidFill>
              </a:rPr>
              <a:t>Uso opcional previo al entrenamiento final del modelo.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ntalla de computadora con un control en la mano&#10;&#10;El contenido generado por IA puede ser incorrecto.">
            <a:extLst>
              <a:ext uri="{FF2B5EF4-FFF2-40B4-BE49-F238E27FC236}">
                <a16:creationId xmlns:a16="http://schemas.microsoft.com/office/drawing/2014/main" id="{866980A4-E3EE-27AB-31BD-FA018AB315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657"/>
            <a:ext cx="9144000" cy="6854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5697" y="2344879"/>
            <a:ext cx="3877314" cy="1143000"/>
          </a:xfrm>
        </p:spPr>
        <p:txBody>
          <a:bodyPr>
            <a:normAutofit fontScale="90000"/>
          </a:bodyPr>
          <a:lstStyle/>
          <a:p>
            <a:r>
              <a:rPr lang="es-EC" noProof="0" dirty="0">
                <a:solidFill>
                  <a:schemeClr val="bg1"/>
                </a:solidFill>
              </a:rPr>
              <a:t>🧪 Fase 6: Partición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231" y="3730491"/>
            <a:ext cx="3610989" cy="2111923"/>
          </a:xfrm>
        </p:spPr>
        <p:txBody>
          <a:bodyPr>
            <a:normAutofit lnSpcReduction="10000"/>
          </a:bodyPr>
          <a:lstStyle/>
          <a:p>
            <a:pPr>
              <a:defRPr sz="1800"/>
            </a:pPr>
            <a:r>
              <a:rPr lang="es-EC" noProof="0" dirty="0">
                <a:solidFill>
                  <a:schemeClr val="bg1"/>
                </a:solidFill>
              </a:rPr>
              <a:t>División: 70% entrenamiento, 15% validación, 15% prueba.</a:t>
            </a:r>
          </a:p>
          <a:p>
            <a:pPr>
              <a:defRPr sz="1800"/>
            </a:pPr>
            <a:r>
              <a:rPr lang="es-EC" noProof="0" dirty="0">
                <a:solidFill>
                  <a:schemeClr val="bg1"/>
                </a:solidFill>
              </a:rPr>
              <a:t>Estrategia estratificada para mantener proporciones.</a:t>
            </a:r>
          </a:p>
          <a:p>
            <a:pPr>
              <a:defRPr sz="1800"/>
            </a:pPr>
            <a:r>
              <a:rPr lang="es-EC" noProof="0" dirty="0">
                <a:solidFill>
                  <a:schemeClr val="bg1"/>
                </a:solidFill>
              </a:rPr>
              <a:t>Prevención de data </a:t>
            </a:r>
            <a:r>
              <a:rPr lang="es-EC" noProof="0" dirty="0" err="1">
                <a:solidFill>
                  <a:schemeClr val="bg1"/>
                </a:solidFill>
              </a:rPr>
              <a:t>leakage</a:t>
            </a:r>
            <a:r>
              <a:rPr lang="es-EC" noProof="0" dirty="0">
                <a:solidFill>
                  <a:schemeClr val="bg1"/>
                </a:solidFill>
              </a:rPr>
              <a:t>.</a:t>
            </a:r>
          </a:p>
          <a:p>
            <a:pPr>
              <a:defRPr sz="1800"/>
            </a:pPr>
            <a:r>
              <a:rPr lang="es-EC" noProof="0" dirty="0">
                <a:solidFill>
                  <a:schemeClr val="bg1"/>
                </a:solidFill>
              </a:rPr>
              <a:t>Separación clara de conjuntos para evitar sobreajuste.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1C0FA5FD-DFDE-04C6-0533-D99D85DD01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9226" y="-130328"/>
            <a:ext cx="2605547" cy="260554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5A8EF1C-1023-CF1C-8398-0E5F50EFECD0}"/>
              </a:ext>
            </a:extLst>
          </p:cNvPr>
          <p:cNvSpPr txBox="1">
            <a:spLocks/>
          </p:cNvSpPr>
          <p:nvPr/>
        </p:nvSpPr>
        <p:spPr>
          <a:xfrm>
            <a:off x="4838891" y="2323766"/>
            <a:ext cx="341463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C" sz="3600" dirty="0">
                <a:solidFill>
                  <a:schemeClr val="bg1"/>
                </a:solidFill>
              </a:rPr>
              <a:t>Fase 7: Pipeline de Preprocesamiento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BF74F17-8ED5-BCDC-1E21-34C9F296BAE3}"/>
              </a:ext>
            </a:extLst>
          </p:cNvPr>
          <p:cNvSpPr txBox="1">
            <a:spLocks/>
          </p:cNvSpPr>
          <p:nvPr/>
        </p:nvSpPr>
        <p:spPr>
          <a:xfrm>
            <a:off x="4540897" y="3768120"/>
            <a:ext cx="4337632" cy="211192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/>
            </a:pPr>
            <a:r>
              <a:rPr lang="es-EC" sz="1800" dirty="0">
                <a:solidFill>
                  <a:schemeClr val="bg1"/>
                </a:solidFill>
              </a:rPr>
              <a:t>Uso de sklearn.Pipeline + ColumnTransformer.</a:t>
            </a:r>
          </a:p>
          <a:p>
            <a:pPr>
              <a:defRPr sz="1800"/>
            </a:pPr>
            <a:r>
              <a:rPr lang="es-EC" sz="1800" dirty="0">
                <a:solidFill>
                  <a:schemeClr val="bg1"/>
                </a:solidFill>
              </a:rPr>
              <a:t>Pasos incluidos: limpieza, encoding, escalado, balanceo.</a:t>
            </a:r>
          </a:p>
          <a:p>
            <a:pPr>
              <a:defRPr sz="1800"/>
            </a:pPr>
            <a:r>
              <a:rPr lang="es-EC" sz="1800" dirty="0">
                <a:solidFill>
                  <a:schemeClr val="bg1"/>
                </a:solidFill>
              </a:rPr>
              <a:t>Pipeline modular y reutilizable.</a:t>
            </a:r>
          </a:p>
          <a:p>
            <a:pPr>
              <a:defRPr sz="1800"/>
            </a:pPr>
            <a:r>
              <a:rPr lang="es-EC" sz="1800" dirty="0">
                <a:solidFill>
                  <a:schemeClr val="bg1"/>
                </a:solidFill>
              </a:rPr>
              <a:t>Preparado para integrarse a un modelo supervisado.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ntalla de computadora con un control en la mano&#10;&#10;El contenido generado por IA puede ser incorrecto.">
            <a:extLst>
              <a:ext uri="{FF2B5EF4-FFF2-40B4-BE49-F238E27FC236}">
                <a16:creationId xmlns:a16="http://schemas.microsoft.com/office/drawing/2014/main" id="{294C3BAB-4B36-214C-F03A-6127660CD9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692"/>
            <a:ext cx="9144000" cy="6854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4647" y="466228"/>
            <a:ext cx="6881446" cy="1143000"/>
          </a:xfrm>
        </p:spPr>
        <p:txBody>
          <a:bodyPr/>
          <a:lstStyle/>
          <a:p>
            <a:r>
              <a:rPr lang="es-EC" noProof="0" dirty="0">
                <a:solidFill>
                  <a:schemeClr val="bg1"/>
                </a:solidFill>
              </a:rPr>
              <a:t>Repositorio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3359" y="1609228"/>
            <a:ext cx="7257902" cy="4525963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s-EC" sz="1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 el fin de garantizar la trazabilidad, reproducibilidad y acceso abierto al material desarrollado, se ha habilitado un repositorio estructurado que contiene:</a:t>
            </a:r>
            <a:endParaRPr lang="es-EC" sz="18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15000"/>
              </a:lnSpc>
              <a:buFont typeface="Wingdings" pitchFamily="2" charset="2"/>
              <a:buChar char="ü"/>
            </a:pPr>
            <a:r>
              <a:rPr lang="es-EC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Cuaderno completo de la fase de preparación y procesamiento de datos (.ipynb)</a:t>
            </a:r>
          </a:p>
          <a:p>
            <a:pPr lvl="1" algn="just">
              <a:lnSpc>
                <a:spcPct val="115000"/>
              </a:lnSpc>
              <a:buFont typeface="Wingdings" pitchFamily="2" charset="2"/>
              <a:buChar char="ü"/>
            </a:pPr>
            <a:r>
              <a:rPr lang="es-EC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Informe técnico del proyecto (.pdf)</a:t>
            </a:r>
          </a:p>
          <a:p>
            <a:pPr lvl="1" algn="just">
              <a:lnSpc>
                <a:spcPct val="115000"/>
              </a:lnSpc>
              <a:buFont typeface="Wingdings" pitchFamily="2" charset="2"/>
              <a:buChar char="ü"/>
            </a:pPr>
            <a:r>
              <a:rPr lang="es-EC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Presentación ejecutiva (.pptx)</a:t>
            </a:r>
          </a:p>
          <a:p>
            <a:pPr lvl="1" algn="just">
              <a:lnSpc>
                <a:spcPct val="115000"/>
              </a:lnSpc>
              <a:buFont typeface="Wingdings" pitchFamily="2" charset="2"/>
              <a:buChar char="ü"/>
            </a:pPr>
            <a:r>
              <a:rPr lang="es-EC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Dataset utilizado en el entrenamiento (.csv)</a:t>
            </a:r>
          </a:p>
          <a:p>
            <a:pPr lvl="1" algn="just">
              <a:lnSpc>
                <a:spcPct val="115000"/>
              </a:lnSpc>
              <a:buFont typeface="Wingdings" pitchFamily="2" charset="2"/>
              <a:buChar char="ü"/>
            </a:pPr>
            <a:r>
              <a:rPr lang="es-EC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Scripts de procesamiento, limpieza y balanceo</a:t>
            </a:r>
          </a:p>
          <a:p>
            <a:pPr lvl="1" algn="just">
              <a:lnSpc>
                <a:spcPct val="115000"/>
              </a:lnSpc>
              <a:buFont typeface="Wingdings" pitchFamily="2" charset="2"/>
              <a:buChar char="ü"/>
            </a:pPr>
            <a:r>
              <a:rPr lang="es-EC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Código base del pipeline automatizado</a:t>
            </a:r>
          </a:p>
          <a:p>
            <a:pPr lvl="1" algn="just">
              <a:lnSpc>
                <a:spcPct val="115000"/>
              </a:lnSpc>
              <a:buFont typeface="Wingdings" pitchFamily="2" charset="2"/>
              <a:buChar char="ü"/>
            </a:pPr>
            <a:r>
              <a:rPr lang="es-EC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Referencias académicas y mockups del bot y dashboard</a:t>
            </a:r>
          </a:p>
          <a:p>
            <a:pPr marL="0" indent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s-EC" sz="1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 repositorio se encuentra disponible en el siguiente enlace:</a:t>
            </a:r>
            <a:endParaRPr lang="es-EC" sz="1800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s-EC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s-EC" sz="1600" kern="100" dirty="0">
                <a:solidFill>
                  <a:schemeClr val="bg1"/>
                </a:solidFill>
                <a:effectLst/>
                <a:latin typeface="Apple Color Emoji" pitchFamily="2" charset="0"/>
                <a:ea typeface="Calibri" panose="020F0502020204030204" pitchFamily="34" charset="0"/>
                <a:cs typeface="Apple Color Emoji" pitchFamily="2" charset="0"/>
              </a:rPr>
              <a:t>🔗</a:t>
            </a:r>
            <a:r>
              <a:rPr lang="es-EC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https://github.com/miandrade-acc/validacion-etiquetas-red</a:t>
            </a:r>
            <a:endParaRPr lang="es-EC" sz="16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A446AAE8-1945-FC6D-AD6B-1C5FDC4467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1094" y="-209314"/>
            <a:ext cx="2605547" cy="260554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ntalla de computadora con un control en la mano&#10;&#10;El contenido generado por IA puede ser incorrecto.">
            <a:extLst>
              <a:ext uri="{FF2B5EF4-FFF2-40B4-BE49-F238E27FC236}">
                <a16:creationId xmlns:a16="http://schemas.microsoft.com/office/drawing/2014/main" id="{294C3BAB-4B36-214C-F03A-6127660CD9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47"/>
            <a:ext cx="9144000" cy="6854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8794" y="594821"/>
            <a:ext cx="6963508" cy="1143000"/>
          </a:xfrm>
        </p:spPr>
        <p:txBody>
          <a:bodyPr/>
          <a:lstStyle/>
          <a:p>
            <a:r>
              <a:rPr lang="es-EC" noProof="0" dirty="0">
                <a:solidFill>
                  <a:schemeClr val="bg1"/>
                </a:solidFill>
              </a:rPr>
              <a:t>📈 </a:t>
            </a:r>
            <a:r>
              <a:rPr lang="es-EC" sz="4000" noProof="0" dirty="0">
                <a:solidFill>
                  <a:schemeClr val="bg1"/>
                </a:solidFill>
              </a:rPr>
              <a:t>Resultados Esperados</a:t>
            </a:r>
            <a:endParaRPr lang="es-EC" noProof="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4780" y="1250161"/>
            <a:ext cx="6269199" cy="2605547"/>
          </a:xfrm>
        </p:spPr>
        <p:txBody>
          <a:bodyPr/>
          <a:lstStyle/>
          <a:p>
            <a:endParaRPr lang="es-EC" noProof="0" dirty="0">
              <a:solidFill>
                <a:schemeClr val="bg1"/>
              </a:solidFill>
            </a:endParaRPr>
          </a:p>
          <a:p>
            <a:pPr>
              <a:defRPr sz="1800"/>
            </a:pPr>
            <a:r>
              <a:rPr lang="es-EC" noProof="0" dirty="0" err="1">
                <a:solidFill>
                  <a:schemeClr val="bg1"/>
                </a:solidFill>
              </a:rPr>
              <a:t>Dataset</a:t>
            </a:r>
            <a:r>
              <a:rPr lang="es-EC" noProof="0" dirty="0">
                <a:solidFill>
                  <a:schemeClr val="bg1"/>
                </a:solidFill>
              </a:rPr>
              <a:t> limpio y balanceado.</a:t>
            </a:r>
          </a:p>
          <a:p>
            <a:pPr>
              <a:defRPr sz="1800"/>
            </a:pPr>
            <a:r>
              <a:rPr lang="es-EC" noProof="0" dirty="0">
                <a:solidFill>
                  <a:schemeClr val="bg1"/>
                </a:solidFill>
              </a:rPr>
              <a:t>Pipeline escalable y generalizable.</a:t>
            </a:r>
          </a:p>
          <a:p>
            <a:pPr>
              <a:defRPr sz="1800"/>
            </a:pPr>
            <a:r>
              <a:rPr lang="es-EC" noProof="0" dirty="0">
                <a:solidFill>
                  <a:schemeClr val="bg1"/>
                </a:solidFill>
              </a:rPr>
              <a:t>Listo para alimentar modelos de clasificación (RF, SVM, NN).</a:t>
            </a:r>
          </a:p>
          <a:p>
            <a:pPr>
              <a:defRPr sz="1800"/>
            </a:pPr>
            <a:r>
              <a:rPr lang="es-EC" noProof="0" dirty="0">
                <a:solidFill>
                  <a:schemeClr val="bg1"/>
                </a:solidFill>
              </a:rPr>
              <a:t>Fase posterior: entrenamiento y evaluación de modelos.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A446AAE8-1945-FC6D-AD6B-1C5FDC4467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341" y="1673"/>
            <a:ext cx="2605547" cy="260554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5F47696-B170-8A82-85FD-FE4BC0637C51}"/>
              </a:ext>
            </a:extLst>
          </p:cNvPr>
          <p:cNvSpPr txBox="1">
            <a:spLocks/>
          </p:cNvSpPr>
          <p:nvPr/>
        </p:nvSpPr>
        <p:spPr>
          <a:xfrm>
            <a:off x="1215432" y="335978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C" dirty="0">
                <a:solidFill>
                  <a:schemeClr val="bg1"/>
                </a:solidFill>
              </a:rPr>
              <a:t>✅ </a:t>
            </a:r>
            <a:r>
              <a:rPr lang="es-EC" sz="4000" dirty="0">
                <a:solidFill>
                  <a:schemeClr val="bg1"/>
                </a:solidFill>
              </a:rPr>
              <a:t>Conclusiones y Futuro</a:t>
            </a:r>
            <a:endParaRPr lang="es-EC" dirty="0">
              <a:solidFill>
                <a:schemeClr val="bg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2EBA2DB-32C9-E767-4B3B-99F2A2B741C2}"/>
              </a:ext>
            </a:extLst>
          </p:cNvPr>
          <p:cNvSpPr txBox="1">
            <a:spLocks/>
          </p:cNvSpPr>
          <p:nvPr/>
        </p:nvSpPr>
        <p:spPr>
          <a:xfrm>
            <a:off x="2364658" y="4486143"/>
            <a:ext cx="6149321" cy="17338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/>
            </a:pPr>
            <a:r>
              <a:rPr lang="es-EC" sz="1800" dirty="0">
                <a:solidFill>
                  <a:schemeClr val="bg1"/>
                </a:solidFill>
              </a:rPr>
              <a:t>Pipeline completo y listo para producción.</a:t>
            </a:r>
          </a:p>
          <a:p>
            <a:pPr>
              <a:defRPr sz="1800"/>
            </a:pPr>
            <a:r>
              <a:rPr lang="es-EC" sz="1800" dirty="0">
                <a:solidFill>
                  <a:schemeClr val="bg1"/>
                </a:solidFill>
              </a:rPr>
              <a:t>Preparación para conectar con OCR y </a:t>
            </a:r>
            <a:r>
              <a:rPr lang="es-EC" sz="1800" dirty="0" err="1">
                <a:solidFill>
                  <a:schemeClr val="bg1"/>
                </a:solidFill>
              </a:rPr>
              <a:t>bot</a:t>
            </a:r>
            <a:r>
              <a:rPr lang="es-EC" sz="1800" dirty="0">
                <a:solidFill>
                  <a:schemeClr val="bg1"/>
                </a:solidFill>
              </a:rPr>
              <a:t> en campo.</a:t>
            </a:r>
          </a:p>
          <a:p>
            <a:pPr>
              <a:defRPr sz="1800"/>
            </a:pPr>
            <a:r>
              <a:rPr lang="es-EC" sz="1800" dirty="0">
                <a:solidFill>
                  <a:schemeClr val="bg1"/>
                </a:solidFill>
              </a:rPr>
              <a:t>Entrenamiento con modelos modernos (</a:t>
            </a:r>
            <a:r>
              <a:rPr lang="es-EC" sz="1800" dirty="0" err="1">
                <a:solidFill>
                  <a:schemeClr val="bg1"/>
                </a:solidFill>
              </a:rPr>
              <a:t>transformers</a:t>
            </a:r>
            <a:r>
              <a:rPr lang="es-EC" sz="1800" dirty="0">
                <a:solidFill>
                  <a:schemeClr val="bg1"/>
                </a:solidFill>
              </a:rPr>
              <a:t>, CNN).</a:t>
            </a:r>
          </a:p>
          <a:p>
            <a:pPr>
              <a:defRPr sz="1800"/>
            </a:pPr>
            <a:r>
              <a:rPr lang="es-EC" sz="1800" dirty="0">
                <a:solidFill>
                  <a:schemeClr val="bg1"/>
                </a:solidFill>
              </a:rPr>
              <a:t>Validación con imágenes reales de etiquetas físicas.</a:t>
            </a:r>
          </a:p>
        </p:txBody>
      </p:sp>
    </p:spTree>
    <p:extLst>
      <p:ext uri="{BB962C8B-B14F-4D97-AF65-F5344CB8AC3E}">
        <p14:creationId xmlns:p14="http://schemas.microsoft.com/office/powerpoint/2010/main" val="977080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1209</TotalTime>
  <Words>735</Words>
  <Application>Microsoft Office PowerPoint</Application>
  <PresentationFormat>Presentación en pantalla (4:3)</PresentationFormat>
  <Paragraphs>108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2" baseType="lpstr">
      <vt:lpstr>Apple Color Emoji</vt:lpstr>
      <vt:lpstr>Arial</vt:lpstr>
      <vt:lpstr>Calibri</vt:lpstr>
      <vt:lpstr>Times New Roman</vt:lpstr>
      <vt:lpstr>-webkit-standard</vt:lpstr>
      <vt:lpstr>Wingdings</vt:lpstr>
      <vt:lpstr>Office Theme</vt:lpstr>
      <vt:lpstr>Presentación de PowerPoint</vt:lpstr>
      <vt:lpstr>Proyecto Final – Maestría UEES</vt:lpstr>
      <vt:lpstr>📘 Introducción</vt:lpstr>
      <vt:lpstr>🎯 Objetivos</vt:lpstr>
      <vt:lpstr>📑 Descripción del Dataset</vt:lpstr>
      <vt:lpstr>🎯 Variable Objetivo: color_buffer</vt:lpstr>
      <vt:lpstr>📊 Fase 1: EDA – General</vt:lpstr>
      <vt:lpstr>📊 Fase 1: EDA – Outliers/Duplicados</vt:lpstr>
      <vt:lpstr>🧼 Fase 2: Limpieza</vt:lpstr>
      <vt:lpstr>🛠️ Fase 3: Feature Engineering</vt:lpstr>
      <vt:lpstr>🧩 Encoding Categórico</vt:lpstr>
      <vt:lpstr>Fase 4: Balanceamiento</vt:lpstr>
      <vt:lpstr>🧪 Fase 6: Partición</vt:lpstr>
      <vt:lpstr>Repositorio del Proyecto</vt:lpstr>
      <vt:lpstr>📈 Resultados Esperados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Ismael Andrade (TN)</cp:lastModifiedBy>
  <cp:revision>24</cp:revision>
  <dcterms:created xsi:type="dcterms:W3CDTF">2013-01-27T09:14:16Z</dcterms:created>
  <dcterms:modified xsi:type="dcterms:W3CDTF">2025-09-26T17:00:37Z</dcterms:modified>
  <cp:category/>
</cp:coreProperties>
</file>